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68" r:id="rId15"/>
    <p:sldId id="270" r:id="rId16"/>
    <p:sldId id="271" r:id="rId17"/>
    <p:sldId id="272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04" autoAdjust="0"/>
  </p:normalViewPr>
  <p:slideViewPr>
    <p:cSldViewPr snapToGrid="0">
      <p:cViewPr>
        <p:scale>
          <a:sx n="200" d="100"/>
          <a:sy n="200" d="100"/>
        </p:scale>
        <p:origin x="-1818" y="-4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e5a2f08be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e5a2f08be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a2f08be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a2f08be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5a2f08be3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e5a2f08be3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5a2f08be3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e5a2f08be3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a2f08be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a2f08be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5a2f08be3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5a2f08be3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5a2f08be3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e5a2f08be3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5a2f08be3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e5a2f08be3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5a2f08be3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e5a2f08be3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5a2f08be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e5a2f08be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a2f08be3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e5a2f08be3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5a2f08be3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5a2f08be3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5a2f08be3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e5a2f08be3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5a2f08be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5a2f08be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5a2f08be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e5a2f08be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5a2f08be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e5a2f08be3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d3.j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744575"/>
            <a:ext cx="91440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5300" b="1" dirty="0"/>
              <a:t>Dance4Life</a:t>
            </a:r>
            <a:endParaRPr sz="5300" b="1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200" dirty="0"/>
              <a:t>Envelhecimento ativo</a:t>
            </a:r>
            <a:endParaRPr sz="4200" dirty="0"/>
          </a:p>
          <a:p>
            <a:pPr marL="457200" lvl="0" indent="-396875" algn="ctr" rtl="0">
              <a:spcBef>
                <a:spcPts val="0"/>
              </a:spcBef>
              <a:spcAft>
                <a:spcPts val="0"/>
              </a:spcAft>
              <a:buSzPts val="2650"/>
              <a:buChar char="-"/>
            </a:pPr>
            <a:r>
              <a:rPr lang="pt-PT" sz="2650" dirty="0"/>
              <a:t>Agentes e Sistemas Multiagente -</a:t>
            </a:r>
            <a:endParaRPr sz="265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0" y="3285850"/>
            <a:ext cx="9144000" cy="110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/>
              <a:t>Carlos </a:t>
            </a:r>
            <a:r>
              <a:rPr lang="pt-PT" sz="1400" dirty="0" err="1"/>
              <a:t>Bergueira</a:t>
            </a:r>
            <a:r>
              <a:rPr lang="pt-PT" sz="1400" dirty="0"/>
              <a:t>   		PG11605</a:t>
            </a:r>
            <a:endParaRPr sz="14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/>
              <a:t>Diego Silva			PG59999</a:t>
            </a:r>
            <a:endParaRPr sz="14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/>
              <a:t>Filipa Pereira		PG42201</a:t>
            </a:r>
            <a:endParaRPr sz="14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 sz="1400" dirty="0"/>
              <a:t>Rui Rodrigues		PG 7942</a:t>
            </a:r>
            <a:endParaRPr sz="1400"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0" y="4390375"/>
            <a:ext cx="9144000" cy="36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/>
              <a:t>Universidade do Minho | Junho 2026</a:t>
            </a:r>
            <a:endParaRPr sz="1400" dirty="0"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-1" y="2922550"/>
            <a:ext cx="9143999" cy="36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/>
              <a:t>Mestrado em Inteligência Artificial</a:t>
            </a:r>
            <a:endParaRPr sz="1400" dirty="0"/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19" y="141181"/>
            <a:ext cx="1283409" cy="1359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Keywords</a:t>
            </a:r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Sistemas Multiagente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SPADE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FIPA-ACL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Envelhecimento Ativo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Human Activity Recognition (HAR)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Tecnologia, Metodologia e Standards</a:t>
            </a:r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736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Python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SPADE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API REST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XMMP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jsonpikle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Flask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API OpenWeatherMap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Firebase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203850" y="1152475"/>
            <a:ext cx="2736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Machine Learning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Reinforcement Learning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Android / Smartwatch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Sensores físicos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Sensores virtuais</a:t>
            </a:r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6096000" y="1152475"/>
            <a:ext cx="2736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FIPA-ACL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Ontgology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Privacy by Design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UUIDs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Agent UML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PowerBI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>
                <a:uFill>
                  <a:noFill/>
                </a:uFill>
                <a:hlinkClick r:id="rId3"/>
              </a:rPr>
              <a:t>D3.js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Leaflet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Agentes</a:t>
            </a:r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165150" y="1152475"/>
            <a:ext cx="6878700" cy="390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316" b="1"/>
              <a:t>Características</a:t>
            </a:r>
            <a:endParaRPr sz="2316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Autonomia</a:t>
            </a:r>
            <a:r>
              <a:rPr lang="pt-PT" sz="1929"/>
              <a:t>: atua sem intervenção direta do utilizador ou de outros agentes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Reatividade</a:t>
            </a:r>
            <a:r>
              <a:rPr lang="pt-PT" sz="1929"/>
              <a:t>: percebe alterações no ambiente e responde a essas mudanças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Proatividade</a:t>
            </a:r>
            <a:r>
              <a:rPr lang="pt-PT" sz="1929"/>
              <a:t>: toma iniciativas para atingir os seus objetivos, não se limitando a reagir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Capacidade social</a:t>
            </a:r>
            <a:r>
              <a:rPr lang="pt-PT" sz="1929"/>
              <a:t>: comunica e coopera com outros agentes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Racionalidade</a:t>
            </a:r>
            <a:r>
              <a:rPr lang="pt-PT" sz="1929"/>
              <a:t>: escolhe ações que maximizam a probabilidade de atingir os seus objetivos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lang="pt-PT" sz="1929" b="1"/>
              <a:t>Persistência</a:t>
            </a:r>
            <a:r>
              <a:rPr lang="pt-PT" sz="1929"/>
              <a:t>: mantém-se ativo ao longo do tempo, monitorizando o ambiente</a:t>
            </a:r>
            <a:endParaRPr sz="1929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 sz="1929" b="1"/>
              <a:t>Adaptabilidade</a:t>
            </a:r>
            <a:r>
              <a:rPr lang="pt-PT" sz="1929"/>
              <a:t>: pode ajustar o seu comportamento perante novas situações</a:t>
            </a:r>
            <a:endParaRPr sz="1929"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7043575" y="1152475"/>
            <a:ext cx="210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 b="1"/>
              <a:t>Agentes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BackgroundAgent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BaseSenderAgent (Flask)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SensorAgent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CoordinatorAgent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HARAgent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EnvironmentAgent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DatabaseAgent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ClusteringAgent</a:t>
            </a:r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Sistemas Multiagentes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1"/>
          </p:nvPr>
        </p:nvSpPr>
        <p:spPr>
          <a:xfrm>
            <a:off x="180900" y="1152475"/>
            <a:ext cx="8651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/>
              <a:t>Características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Distribuição</a:t>
            </a:r>
            <a:r>
              <a:rPr lang="pt-PT" sz="1471">
                <a:solidFill>
                  <a:schemeClr val="dk1"/>
                </a:solidFill>
              </a:rPr>
              <a:t>: o problema é dividido por vários agentes.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Cooperação</a:t>
            </a:r>
            <a:r>
              <a:rPr lang="pt-PT" sz="1471">
                <a:solidFill>
                  <a:schemeClr val="dk1"/>
                </a:solidFill>
              </a:rPr>
              <a:t>: os agentes trabalham em conjunto para atingir objetivos comuns.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Comunicação</a:t>
            </a:r>
            <a:r>
              <a:rPr lang="pt-PT" sz="1471">
                <a:solidFill>
                  <a:schemeClr val="dk1"/>
                </a:solidFill>
              </a:rPr>
              <a:t>: existe troca de mensagens entre agentes.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Coordenação</a:t>
            </a:r>
            <a:r>
              <a:rPr lang="pt-PT" sz="1471">
                <a:solidFill>
                  <a:schemeClr val="dk1"/>
                </a:solidFill>
              </a:rPr>
              <a:t>: as ações dos agentes são organizadas para evitar conflitos.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Descentralização</a:t>
            </a:r>
            <a:r>
              <a:rPr lang="pt-PT" sz="1471">
                <a:solidFill>
                  <a:schemeClr val="dk1"/>
                </a:solidFill>
              </a:rPr>
              <a:t>: normalmente não existe uma entidade central que controla todo o sistema.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Escalabilidade</a:t>
            </a:r>
            <a:r>
              <a:rPr lang="pt-PT" sz="1471">
                <a:solidFill>
                  <a:schemeClr val="dk1"/>
                </a:solidFill>
              </a:rPr>
              <a:t>: é possível adicionar novos agentes sem alterar significativamente a arquitetura.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Robustez</a:t>
            </a:r>
            <a:r>
              <a:rPr lang="pt-PT" sz="1471">
                <a:solidFill>
                  <a:schemeClr val="dk1"/>
                </a:solidFill>
              </a:rPr>
              <a:t>: a falha de um agente não implica necessariamente a falha do sistema.</a:t>
            </a:r>
            <a:endParaRPr sz="147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 sz="1471" b="1">
                <a:solidFill>
                  <a:schemeClr val="dk1"/>
                </a:solidFill>
              </a:rPr>
              <a:t>Flexibilidade</a:t>
            </a:r>
            <a:r>
              <a:rPr lang="pt-PT" sz="1471">
                <a:solidFill>
                  <a:schemeClr val="dk1"/>
                </a:solidFill>
              </a:rPr>
              <a:t>: o sistema adapta-se facilmente a novas necessidades ou condições.</a:t>
            </a:r>
            <a:endParaRPr sz="2171"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Arquitectura do Dance4Life</a:t>
            </a:r>
            <a:endParaRPr/>
          </a:p>
        </p:txBody>
      </p:sp>
      <p:pic>
        <p:nvPicPr>
          <p:cNvPr id="92" name="Google Shape;9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7255" y="0"/>
            <a:ext cx="443674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425" y="1589946"/>
            <a:ext cx="3942600" cy="275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Classes</a:t>
            </a:r>
            <a:endParaRPr/>
          </a:p>
        </p:txBody>
      </p:sp>
      <p:pic>
        <p:nvPicPr>
          <p:cNvPr id="100" name="Google Shape;100;p19" title="Dance4Life_Clas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125" y="1074875"/>
            <a:ext cx="7211994" cy="412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Implementação</a:t>
            </a:r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xfrm>
            <a:off x="311700" y="1531900"/>
            <a:ext cx="2736300" cy="30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sender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ontology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performative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conversation_id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payload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—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XMPP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FIPA-ACL</a:t>
            </a:r>
            <a:endParaRPr/>
          </a:p>
        </p:txBody>
      </p:sp>
      <p:pic>
        <p:nvPicPr>
          <p:cNvPr id="107" name="Google Shape;10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8875" y="1883000"/>
            <a:ext cx="3745126" cy="316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4675" y="1114263"/>
            <a:ext cx="3625875" cy="738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74675" y="1883000"/>
            <a:ext cx="3286775" cy="181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Matching</a:t>
            </a:r>
            <a:endParaRPr/>
          </a:p>
        </p:txBody>
      </p:sp>
      <p:pic>
        <p:nvPicPr>
          <p:cNvPr id="115" name="Google Shape;115;p21" title="Dance4Life_Collab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237" y="1152475"/>
            <a:ext cx="5249525" cy="3966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Sensor Activity</a:t>
            </a:r>
            <a:endParaRPr/>
          </a:p>
        </p:txBody>
      </p:sp>
      <p:pic>
        <p:nvPicPr>
          <p:cNvPr id="127" name="Google Shape;127;p23" title="Dance4Life_Collab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9038" y="1115075"/>
            <a:ext cx="2785937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Movement Recommendation</a:t>
            </a:r>
            <a:endParaRPr/>
          </a:p>
        </p:txBody>
      </p:sp>
      <p:pic>
        <p:nvPicPr>
          <p:cNvPr id="121" name="Google Shape;121;p22" title="Dance4Life_Collab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213" y="1177975"/>
            <a:ext cx="543958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Matching</a:t>
            </a:r>
            <a:endParaRPr/>
          </a:p>
        </p:txBody>
      </p:sp>
      <p:pic>
        <p:nvPicPr>
          <p:cNvPr id="133" name="Google Shape;133;p24" title="Dance4Life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8625" y="1154375"/>
            <a:ext cx="482676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Sensor Activity</a:t>
            </a:r>
            <a:endParaRPr/>
          </a:p>
        </p:txBody>
      </p:sp>
      <p:pic>
        <p:nvPicPr>
          <p:cNvPr id="145" name="Google Shape;145;p26" title="Dance4Life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4775" y="1154400"/>
            <a:ext cx="4854441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Movement Recommendation</a:t>
            </a:r>
            <a:endParaRPr/>
          </a:p>
        </p:txBody>
      </p:sp>
      <p:pic>
        <p:nvPicPr>
          <p:cNvPr id="139" name="Google Shape;139;p25" title="Dance4Life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4888" y="1170125"/>
            <a:ext cx="6414223" cy="38209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Matching</a:t>
            </a:r>
            <a:endParaRPr/>
          </a:p>
        </p:txBody>
      </p:sp>
      <p:pic>
        <p:nvPicPr>
          <p:cNvPr id="151" name="Google Shape;151;p27" title="Dance4Life_Seq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3163" y="1170125"/>
            <a:ext cx="3857680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Movement Recommendation</a:t>
            </a:r>
            <a:endParaRPr/>
          </a:p>
        </p:txBody>
      </p:sp>
      <p:pic>
        <p:nvPicPr>
          <p:cNvPr id="157" name="Google Shape;157;p28" title="Dance4Life_Seq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9513" y="1162250"/>
            <a:ext cx="624497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Sensor Activity</a:t>
            </a:r>
            <a:endParaRPr/>
          </a:p>
        </p:txBody>
      </p:sp>
      <p:pic>
        <p:nvPicPr>
          <p:cNvPr id="163" name="Google Shape;163;p29" title="Dance4Life_Seq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0850" y="1269407"/>
            <a:ext cx="6153779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356</Words>
  <Application>Microsoft Office PowerPoint</Application>
  <PresentationFormat>On-screen Show (16:9)</PresentationFormat>
  <Paragraphs>87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Dance4Life Envelhecimento ativo Agentes e Sistemas Multiagente -</vt:lpstr>
      <vt:lpstr>Keywords</vt:lpstr>
      <vt:lpstr>Tecnologia, Metodologia e Standards</vt:lpstr>
      <vt:lpstr>Agentes</vt:lpstr>
      <vt:lpstr>Sistemas Multiagentes</vt:lpstr>
      <vt:lpstr>Arquitectura do Dance4Life</vt:lpstr>
      <vt:lpstr>Diagrama de Classes</vt:lpstr>
      <vt:lpstr>Implementação</vt:lpstr>
      <vt:lpstr>Diagrama de Colaboração: Matching</vt:lpstr>
      <vt:lpstr>Diagrama de Colaboração: Sensor Activity</vt:lpstr>
      <vt:lpstr>Diagrama de Colaboração: Movement Recommendation</vt:lpstr>
      <vt:lpstr>Diagrama de Actividades: Matching</vt:lpstr>
      <vt:lpstr>Diagrama de Actividades: Sensor Activity</vt:lpstr>
      <vt:lpstr>Diagrama de Actividades: Movement Recommendation</vt:lpstr>
      <vt:lpstr>Diagrama de Sequência: Matching</vt:lpstr>
      <vt:lpstr>Diagrama de Sequência: Movement Recommendation</vt:lpstr>
      <vt:lpstr>Diagrama de Sequência: Sensor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Rui Manuel Martins Marques Rodrigues</cp:lastModifiedBy>
  <cp:revision>5</cp:revision>
  <dcterms:modified xsi:type="dcterms:W3CDTF">2026-06-02T07:29:07Z</dcterms:modified>
</cp:coreProperties>
</file>
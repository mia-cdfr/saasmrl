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e5a2f08be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e5a2f08be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a2f08be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a2f08be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5a2f08be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e5a2f08be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e5a2f08be3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e5a2f08be3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a2f08be3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a2f08be3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5a2f08be3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5a2f08be3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5a2f08be3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e5a2f08be3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e5a2f08be3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e5a2f08be3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5a2f08be3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e5a2f08be3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5a2f08be3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e5a2f08be3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5a2f08be3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e5a2f08be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5a2f08be3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e5a2f08be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5a2f08be3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5a2f08be3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5a2f08be3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5a2f08be3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5a2f08be3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e5a2f08be3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5a2f08be3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e5a2f08be3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://d3.j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PT" sz="5300"/>
              <a:t>Dance4Life</a:t>
            </a:r>
            <a:endParaRPr b="1" sz="5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4200"/>
              <a:t>Envelhecimento activo</a:t>
            </a:r>
            <a:endParaRPr sz="4200"/>
          </a:p>
          <a:p>
            <a:pPr indent="-396875" lvl="0" marL="457200" rtl="0" algn="ctr">
              <a:spcBef>
                <a:spcPts val="0"/>
              </a:spcBef>
              <a:spcAft>
                <a:spcPts val="0"/>
              </a:spcAft>
              <a:buSzPts val="2650"/>
              <a:buChar char="-"/>
            </a:pPr>
            <a:r>
              <a:rPr lang="pt-PT" sz="2650"/>
              <a:t>Agentes e Sistemas MultiAgentes -</a:t>
            </a:r>
            <a:endParaRPr sz="265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679700" y="3285850"/>
            <a:ext cx="5304900" cy="110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/>
              <a:t>Carlos Bergueira   		PG11605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/>
              <a:t>Diego Silva				PG59999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/>
              <a:t>Filipa Pereira			PG42201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 sz="1400"/>
              <a:t>Rui Rodrigues			PG 7942</a:t>
            </a:r>
            <a:endParaRPr sz="1400"/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3679700" y="4390375"/>
            <a:ext cx="5304900" cy="3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/>
              <a:t>Universidade do Minho | Maio 2026</a:t>
            </a:r>
            <a:endParaRPr sz="1400"/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679700" y="2922550"/>
            <a:ext cx="5304900" cy="3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400"/>
              <a:t>Mestrado em Inteligência Artificial</a:t>
            </a:r>
            <a:endParaRPr sz="1400"/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6227" y="2797175"/>
            <a:ext cx="2316275" cy="231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Keywords</a:t>
            </a:r>
            <a:endParaRPr/>
          </a:p>
        </p:txBody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Sistemas Multiagente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SPADE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FIPA-ACL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Envelhecimento Ativo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Human Activity Recognition (HAR)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Tecnologia, </a:t>
            </a:r>
            <a:r>
              <a:rPr lang="pt-PT"/>
              <a:t>Metodologia </a:t>
            </a:r>
            <a:r>
              <a:rPr lang="pt-PT"/>
              <a:t>e Standards</a:t>
            </a:r>
            <a:endParaRPr/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311700" y="1152475"/>
            <a:ext cx="2736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Python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SPADE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API REST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XMMP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jsonpikle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Flask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API OpenWeatherMap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Firebase</a:t>
            </a:r>
            <a:endParaRPr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3203850" y="1152475"/>
            <a:ext cx="2736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Machine Learning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Reinforcement Learning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Android / Smartwatch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Sensores físicos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Sensores virtuais</a:t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6096000" y="1152475"/>
            <a:ext cx="2736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FIPA-ACL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Ontgology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Privacy by Design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UUIDs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Agent UML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PowerBI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>
                <a:uFill>
                  <a:noFill/>
                </a:uFill>
                <a:hlinkClick r:id="rId3"/>
              </a:rPr>
              <a:t>D3.js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PT"/>
              <a:t>Leaflet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Agentes</a:t>
            </a:r>
            <a:endParaRPr/>
          </a:p>
        </p:txBody>
      </p:sp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165150" y="1152475"/>
            <a:ext cx="6878700" cy="390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PT" sz="2316"/>
              <a:t>Características</a:t>
            </a:r>
            <a:endParaRPr b="1" sz="2316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b="1" lang="pt-PT" sz="1929"/>
              <a:t>Autonomia</a:t>
            </a:r>
            <a:r>
              <a:rPr lang="pt-PT" sz="1929"/>
              <a:t>: atua sem intervenção direta do utilizador ou de outros agentes</a:t>
            </a:r>
            <a:endParaRPr sz="1929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b="1" lang="pt-PT" sz="1929"/>
              <a:t>Reatividade</a:t>
            </a:r>
            <a:r>
              <a:rPr lang="pt-PT" sz="1929"/>
              <a:t>: percebe alterações no ambiente e responde a essas mudanças</a:t>
            </a:r>
            <a:endParaRPr sz="1929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b="1" lang="pt-PT" sz="1929"/>
              <a:t>Proatividade</a:t>
            </a:r>
            <a:r>
              <a:rPr lang="pt-PT" sz="1929"/>
              <a:t>: toma iniciativas para atingir os seus objetivos, não se limitando a reagir</a:t>
            </a:r>
            <a:endParaRPr sz="1929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b="1" lang="pt-PT" sz="1929"/>
              <a:t>Capacidade social</a:t>
            </a:r>
            <a:r>
              <a:rPr lang="pt-PT" sz="1929"/>
              <a:t>: comunica e coopera com outros agentes</a:t>
            </a:r>
            <a:endParaRPr sz="1929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b="1" lang="pt-PT" sz="1929"/>
              <a:t>Racionalidade</a:t>
            </a:r>
            <a:r>
              <a:rPr lang="pt-PT" sz="1929"/>
              <a:t>: escolhe ações que maximizam a probab</a:t>
            </a:r>
            <a:r>
              <a:rPr lang="pt-PT" sz="1929"/>
              <a:t>ilidade</a:t>
            </a:r>
            <a:r>
              <a:rPr lang="pt-PT" sz="1929"/>
              <a:t> de atingir os seus objetivos</a:t>
            </a:r>
            <a:endParaRPr sz="1929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7023"/>
              <a:buFont typeface="Arial"/>
              <a:buNone/>
            </a:pPr>
            <a:r>
              <a:rPr b="1" lang="pt-PT" sz="1929"/>
              <a:t>Persistência</a:t>
            </a:r>
            <a:r>
              <a:rPr lang="pt-PT" sz="1929"/>
              <a:t>: mantém-se ativo ao longo do tempo, monitorizando o ambiente</a:t>
            </a:r>
            <a:endParaRPr sz="1929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t-PT" sz="1929"/>
              <a:t>Adaptabilidade</a:t>
            </a:r>
            <a:r>
              <a:rPr lang="pt-PT" sz="1929"/>
              <a:t>: pode ajustar o seu comportamento perante novas situações</a:t>
            </a:r>
            <a:endParaRPr sz="1929"/>
          </a:p>
        </p:txBody>
      </p:sp>
      <p:sp>
        <p:nvSpPr>
          <p:cNvPr id="79" name="Google Shape;79;p16"/>
          <p:cNvSpPr txBox="1"/>
          <p:nvPr>
            <p:ph idx="1" type="body"/>
          </p:nvPr>
        </p:nvSpPr>
        <p:spPr>
          <a:xfrm>
            <a:off x="7043575" y="1152475"/>
            <a:ext cx="210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pt-PT"/>
              <a:t>Agentes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BackgroundAgent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BaseSenderAgent (Flask)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SensorAgent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CoordinatorAgent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HARAgent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EnvironmentAgent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DatabaseAgent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PT"/>
              <a:t>ClusteringAgent</a:t>
            </a:r>
            <a:endParaRPr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Sistemas Multiagentes</a:t>
            </a:r>
            <a:endParaRPr/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180900" y="1152475"/>
            <a:ext cx="8651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PT"/>
              <a:t>Características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Distribuição</a:t>
            </a:r>
            <a:r>
              <a:rPr lang="pt-PT" sz="1471">
                <a:solidFill>
                  <a:schemeClr val="dk1"/>
                </a:solidFill>
              </a:rPr>
              <a:t>: o problema é dividido por vários agentes.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Cooperação</a:t>
            </a:r>
            <a:r>
              <a:rPr lang="pt-PT" sz="1471">
                <a:solidFill>
                  <a:schemeClr val="dk1"/>
                </a:solidFill>
              </a:rPr>
              <a:t>: os agentes trabalham em conjunto para atingir objetivos comuns.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Comunicação</a:t>
            </a:r>
            <a:r>
              <a:rPr lang="pt-PT" sz="1471">
                <a:solidFill>
                  <a:schemeClr val="dk1"/>
                </a:solidFill>
              </a:rPr>
              <a:t>: existe troca de mensagens entre agentes.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Coordenação</a:t>
            </a:r>
            <a:r>
              <a:rPr lang="pt-PT" sz="1471">
                <a:solidFill>
                  <a:schemeClr val="dk1"/>
                </a:solidFill>
              </a:rPr>
              <a:t>: as ações dos agentes são organizadas para evitar conflitos.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Descentralização</a:t>
            </a:r>
            <a:r>
              <a:rPr lang="pt-PT" sz="1471">
                <a:solidFill>
                  <a:schemeClr val="dk1"/>
                </a:solidFill>
              </a:rPr>
              <a:t>: normalmente não existe uma entidade central que controla todo o sistema.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Escalabilidade</a:t>
            </a:r>
            <a:r>
              <a:rPr lang="pt-PT" sz="1471">
                <a:solidFill>
                  <a:schemeClr val="dk1"/>
                </a:solidFill>
              </a:rPr>
              <a:t>: é possível adicionar novos agentes sem alterar significativamente a arquitetura.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Robustez</a:t>
            </a:r>
            <a:r>
              <a:rPr lang="pt-PT" sz="1471">
                <a:solidFill>
                  <a:schemeClr val="dk1"/>
                </a:solidFill>
              </a:rPr>
              <a:t>: a falha de um agente não implica necessariamente a falha do sistema.</a:t>
            </a:r>
            <a:endParaRPr sz="147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t-PT" sz="1471">
                <a:solidFill>
                  <a:schemeClr val="dk1"/>
                </a:solidFill>
              </a:rPr>
              <a:t>Flexibilidade</a:t>
            </a:r>
            <a:r>
              <a:rPr lang="pt-PT" sz="1471">
                <a:solidFill>
                  <a:schemeClr val="dk1"/>
                </a:solidFill>
              </a:rPr>
              <a:t>: o sistema adapta-se facilmente a novas necessidades ou condições.</a:t>
            </a:r>
            <a:endParaRPr b="1" sz="217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Arquitectura do Dance4Life</a:t>
            </a:r>
            <a:endParaRPr/>
          </a:p>
        </p:txBody>
      </p:sp>
      <p:sp>
        <p:nvSpPr>
          <p:cNvPr id="91" name="Google Shape;91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2" name="Google Shape;9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7255" y="0"/>
            <a:ext cx="4436746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425" y="1589946"/>
            <a:ext cx="3942600" cy="275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Classes</a:t>
            </a:r>
            <a:endParaRPr/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0" name="Google Shape;100;p19" title="Dance4Life_Clas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6000" y="1017725"/>
            <a:ext cx="7211994" cy="412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Implementação</a:t>
            </a:r>
            <a:endParaRPr/>
          </a:p>
        </p:txBody>
      </p:sp>
      <p:sp>
        <p:nvSpPr>
          <p:cNvPr id="106" name="Google Shape;106;p20"/>
          <p:cNvSpPr txBox="1"/>
          <p:nvPr>
            <p:ph idx="1" type="body"/>
          </p:nvPr>
        </p:nvSpPr>
        <p:spPr>
          <a:xfrm>
            <a:off x="311700" y="1531900"/>
            <a:ext cx="2736300" cy="303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sender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ontology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performative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conversation_id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payload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—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XMPP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/>
              <a:t>FIPA-ACL</a:t>
            </a:r>
            <a:endParaRPr/>
          </a:p>
        </p:txBody>
      </p:sp>
      <p:pic>
        <p:nvPicPr>
          <p:cNvPr id="107" name="Google Shape;10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8875" y="1883000"/>
            <a:ext cx="3745126" cy="316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4675" y="1114263"/>
            <a:ext cx="3625875" cy="738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74675" y="1883000"/>
            <a:ext cx="3286775" cy="181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Colaboração: Matching</a:t>
            </a:r>
            <a:endParaRPr/>
          </a:p>
        </p:txBody>
      </p:sp>
      <p:pic>
        <p:nvPicPr>
          <p:cNvPr id="115" name="Google Shape;115;p21" title="Dance4Life_Collab_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237" y="1152475"/>
            <a:ext cx="5249525" cy="3966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Colaboração: Movement Recommendation</a:t>
            </a:r>
            <a:endParaRPr/>
          </a:p>
        </p:txBody>
      </p:sp>
      <p:pic>
        <p:nvPicPr>
          <p:cNvPr id="121" name="Google Shape;121;p22" title="Dance4Life_Collab_M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213" y="1177975"/>
            <a:ext cx="543958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Colaboração: Sensor Activity</a:t>
            </a:r>
            <a:endParaRPr/>
          </a:p>
        </p:txBody>
      </p:sp>
      <p:pic>
        <p:nvPicPr>
          <p:cNvPr id="127" name="Google Shape;127;p23" title="Dance4Life_Collab_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79038" y="1115075"/>
            <a:ext cx="2785937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Actividades: Matching</a:t>
            </a:r>
            <a:endParaRPr/>
          </a:p>
        </p:txBody>
      </p:sp>
      <p:pic>
        <p:nvPicPr>
          <p:cNvPr id="133" name="Google Shape;133;p24" title="Dance4Life_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8625" y="1154375"/>
            <a:ext cx="4826761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Actividades: Movement Recommendation</a:t>
            </a:r>
            <a:endParaRPr/>
          </a:p>
        </p:txBody>
      </p:sp>
      <p:pic>
        <p:nvPicPr>
          <p:cNvPr id="139" name="Google Shape;139;p25" title="Dance4Life_M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4888" y="1170125"/>
            <a:ext cx="6414223" cy="38209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Actividades: Sensor Activity</a:t>
            </a:r>
            <a:endParaRPr/>
          </a:p>
        </p:txBody>
      </p:sp>
      <p:pic>
        <p:nvPicPr>
          <p:cNvPr id="145" name="Google Shape;145;p26" title="Dance4Life_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4775" y="1154400"/>
            <a:ext cx="4854441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Sequência: Matching</a:t>
            </a:r>
            <a:endParaRPr/>
          </a:p>
        </p:txBody>
      </p:sp>
      <p:pic>
        <p:nvPicPr>
          <p:cNvPr id="151" name="Google Shape;151;p27" title="Dance4Life_Seq_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3163" y="1170125"/>
            <a:ext cx="3857680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Sequência: Movement Recommendation</a:t>
            </a:r>
            <a:endParaRPr/>
          </a:p>
        </p:txBody>
      </p:sp>
      <p:pic>
        <p:nvPicPr>
          <p:cNvPr id="157" name="Google Shape;157;p28" title="Dance4Life_Seq_M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9513" y="1162250"/>
            <a:ext cx="6244975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Diagrama de Sequência: Sensor Activity</a:t>
            </a:r>
            <a:endParaRPr/>
          </a:p>
        </p:txBody>
      </p:sp>
      <p:pic>
        <p:nvPicPr>
          <p:cNvPr id="163" name="Google Shape;163;p29" title="Dance4Life_Seq_S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5113" y="1162250"/>
            <a:ext cx="6153779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
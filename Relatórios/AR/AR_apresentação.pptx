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7" r:id="rId2"/>
    <p:sldId id="266" r:id="rId3"/>
    <p:sldId id="267" r:id="rId4"/>
    <p:sldId id="268" r:id="rId5"/>
    <p:sldId id="269" r:id="rId6"/>
    <p:sldId id="270" r:id="rId7"/>
    <p:sldId id="271" r:id="rId8"/>
    <p:sldId id="273" r:id="rId9"/>
    <p:sldId id="275" r:id="rId10"/>
    <p:sldId id="276" r:id="rId11"/>
    <p:sldId id="274" r:id="rId12"/>
    <p:sldId id="265" r:id="rId13"/>
    <p:sldId id="264" r:id="rId14"/>
    <p:sldId id="257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B1A07-4978-4516-A4E6-58A8CDD44A2D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7239E-B35E-4F10-90B5-31FF18281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286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7239E-B35E-4F10-90B5-31FF182819A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632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8313-6DF3-EA75-DF6C-2584F287C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A9633-9DFD-117D-3602-7376C8062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FFDE-08E8-9F39-9CF4-23ADFB4D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4487-E5E4-C86A-FC10-870B0999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0E5BE-C2A1-EF82-4557-4FAA244B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92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94F7-0D63-1EE0-46E6-8651F617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60176-0489-3EAB-6E78-288B2C886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DCF42-F739-4F2E-0DC1-7681EB9A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41686-0E97-6D3A-4FF3-83AD00AA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06961-E342-BCEF-2B8E-BAD8C4E1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3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1852-A7C6-A4A4-C16F-1FEEAC9A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3D141-41F7-186F-0963-A84383855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6335-A3DC-597F-B4EF-86D33E3E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22613-2CAA-0B70-A902-714BAD28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3E3CD-943F-356D-C839-4519FD66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417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2DA9-6283-6A18-B694-DE74756F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D083A-6944-181C-EC0C-35F5B01CB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A620A-FC22-1F03-9691-E095ABA76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1BE48-C290-C238-BCFC-64401F66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F764A-CD07-6306-9EB9-384BF9B8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705B7-DF4A-1ED9-1EB6-F3618F00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72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520C-211D-EADC-3009-378940EA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07BAF-5E49-D507-7D8E-AA2398BBC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60ABF-BF51-11F3-AA35-71464D07C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C8FA1-C0EC-ACFB-14C3-0FE51EB57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2B7382-7310-8CF8-446F-07C6C1405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223FD-168F-4D27-EDE1-F97AC7B8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5C2B34-A1D9-93B2-EA9A-E130A313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087D55-C6BA-3EBC-3958-FC1D045A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917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CB29-921D-22E5-91C5-879CE5BB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4BC03-09D7-12A3-995E-1E2E026EB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FE758-ADA3-D43E-88B8-BE60F730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0C040-D78B-A3C6-7F5B-1FDC9A33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92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EB3102-D711-AA67-F99D-D9ADF245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E995E-1115-9AB0-BEC3-0D71D0E7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AE571-323E-0621-0597-BEE8CEFA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176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BFDE-692D-1313-E87B-BCFC971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D9946-67B7-6DDF-1584-84DC9D140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7FA06-3377-84B2-C262-162EB0AC1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00A0E-DB95-6E20-ECE0-F756484E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4C405-338C-9738-A48A-BCF82480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F5738-61F5-3F80-A238-37DA9EE2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75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0326-742D-BFF6-85D1-28CCCF6C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588BD-89FB-510B-8E44-0275E0A5A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9FD24-6DC7-22FC-EC22-F942DC48A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56C33-806D-1B7B-06FD-08F9DDDA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20843-A3B7-697D-3DF2-4BC9BC66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5D26C-3C1B-B6FA-CD4A-2A69CA3B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383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4089-0024-38E9-7772-E75E4EFF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A9CBB-7806-38C3-8B0E-E996851B0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B67A8-C991-696A-4663-E6C48AAD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E4955-92D6-D7A3-6BAB-DA0E103A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C68F-ABED-C81D-A7F8-314AF028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42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16D55A-B85E-850B-D151-FC0BB330C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AC63E-6553-2B6D-3EB6-0564388C0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EFD5B-33A5-835F-011E-31003395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32AC-76C6-E3A2-7516-D248B7C8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A1F2C-9B1B-39C4-795F-2190EB6D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5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923A27-F1C8-6541-2F81-FBD8182E2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103ED-0CD5-74F8-9952-636237097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5CAF5-3406-2046-5153-BAA1EF623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1322A-ABF9-4314-B9EE-0B625A982925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70FBE-461A-07E8-2239-30B39D3B6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CC256-B5C7-4DDE-BF98-21CF10D88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EF6EE-B007-4E76-B5E3-D70C240FC3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3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992767"/>
            <a:ext cx="121920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pt-PT" sz="7066" b="1" dirty="0"/>
              <a:t>Dance4Life</a:t>
            </a:r>
            <a:endParaRPr sz="7066" b="1" dirty="0"/>
          </a:p>
          <a:p>
            <a:pPr>
              <a:spcBef>
                <a:spcPts val="0"/>
              </a:spcBef>
            </a:pPr>
            <a:r>
              <a:rPr lang="pt-PT" sz="5600" dirty="0"/>
              <a:t>Envelhecimento </a:t>
            </a:r>
            <a:r>
              <a:rPr lang="pt-PT" sz="5600" dirty="0" err="1"/>
              <a:t>activo</a:t>
            </a:r>
            <a:endParaRPr sz="5600" dirty="0"/>
          </a:p>
          <a:p>
            <a:pPr marL="609585" indent="-529153">
              <a:spcBef>
                <a:spcPts val="0"/>
              </a:spcBef>
              <a:buSzPts val="2650"/>
              <a:buChar char="-"/>
            </a:pPr>
            <a:r>
              <a:rPr lang="pt-PT" sz="3533" dirty="0"/>
              <a:t>Aprendizagem por Reforço-</a:t>
            </a:r>
            <a:endParaRPr sz="3533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4381133"/>
            <a:ext cx="12191999" cy="127671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pt-PT" sz="1867" dirty="0"/>
              <a:t>Carlos </a:t>
            </a:r>
            <a:r>
              <a:rPr lang="pt-PT" sz="1867" dirty="0" err="1"/>
              <a:t>Bergueira</a:t>
            </a:r>
            <a:r>
              <a:rPr lang="pt-PT" sz="1867" dirty="0"/>
              <a:t>   		PG11605</a:t>
            </a:r>
            <a:endParaRPr sz="1867" dirty="0"/>
          </a:p>
          <a:p>
            <a:pPr>
              <a:spcBef>
                <a:spcPts val="0"/>
              </a:spcBef>
            </a:pPr>
            <a:r>
              <a:rPr lang="pt-PT" sz="1867" dirty="0"/>
              <a:t>Diego Silva			PG59999</a:t>
            </a:r>
            <a:endParaRPr sz="1867" dirty="0"/>
          </a:p>
          <a:p>
            <a:pPr>
              <a:spcBef>
                <a:spcPts val="0"/>
              </a:spcBef>
            </a:pPr>
            <a:r>
              <a:rPr lang="pt-PT" sz="1867" dirty="0"/>
              <a:t>Filipa Pereira			PG42201</a:t>
            </a:r>
            <a:endParaRPr lang="en-GB" sz="1867" dirty="0"/>
          </a:p>
          <a:p>
            <a:pPr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GB" sz="1867" dirty="0"/>
              <a:t>Rui Rodrigues			PG 7942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0" y="5853833"/>
            <a:ext cx="12192000" cy="48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pt-PT" sz="1867" dirty="0"/>
              <a:t>Universidade do Minho | Junho 2026</a:t>
            </a:r>
            <a:endParaRPr sz="1867"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0" y="3896733"/>
            <a:ext cx="12192000" cy="48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pt-PT" sz="1867" dirty="0"/>
              <a:t>Mestrado em Inteligência Artificial</a:t>
            </a:r>
            <a:endParaRPr sz="1867" dirty="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23" y="164367"/>
            <a:ext cx="1602486" cy="16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FF93-A4C8-59C1-16E4-6134017B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Dance4Life Reinforcement Learning Coach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1699-CF9C-A65F-A165-B105A70DC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projeto implementa um sistema de 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para o ecossistema Dance4Life, permitindo treinar agentes inteligentes capazes de adaptar intervenções de coaching com o objetivo de aumentar a atividade física dos utilizadores sem provocar níveis excessivos de fadiga ou irritação.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projeto suporta dois algoritmos de Reinforcement Learning:</a:t>
            </a:r>
          </a:p>
          <a:p>
            <a:pPr lvl="1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 (Proximal Policy Optimization)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(Deep Q-Network)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Após o treino, os modelos podem ser exportados para 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ONNX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 integrados diretamente na aplicação Android para inferência local.</a:t>
            </a:r>
          </a:p>
        </p:txBody>
      </p:sp>
    </p:spTree>
    <p:extLst>
      <p:ext uri="{BB962C8B-B14F-4D97-AF65-F5344CB8AC3E}">
        <p14:creationId xmlns:p14="http://schemas.microsoft.com/office/powerpoint/2010/main" val="3087754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656920-3FBE-CF31-E68D-10BB307F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Reinforcement Learning Concepts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3F16A5-4B23-7909-8493-AFEDD97D68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 err="1"/>
              <a:t>Agente</a:t>
            </a:r>
            <a:r>
              <a:rPr lang="en-GB" b="1" dirty="0"/>
              <a:t> </a:t>
            </a:r>
          </a:p>
          <a:p>
            <a:pPr lvl="1"/>
            <a:r>
              <a:rPr lang="pt-BR" dirty="0"/>
              <a:t>O agente é a entidade responsável por tomar decisões e executar ações</a:t>
            </a:r>
            <a:endParaRPr lang="en-GB" b="1" dirty="0"/>
          </a:p>
          <a:p>
            <a:pPr lvl="2"/>
            <a:r>
              <a:rPr lang="pt-BR" dirty="0"/>
              <a:t>No Dance4Life, o agente representa o sistema de coaching inteligente que decide qual o nível de intervenção mais adequado para o utilizador</a:t>
            </a:r>
          </a:p>
          <a:p>
            <a:pPr marL="0" indent="0">
              <a:buNone/>
            </a:pPr>
            <a:r>
              <a:rPr lang="en-GB" b="1" dirty="0" err="1"/>
              <a:t>Ambiente</a:t>
            </a:r>
            <a:r>
              <a:rPr lang="en-GB" b="1" dirty="0"/>
              <a:t> </a:t>
            </a:r>
          </a:p>
          <a:p>
            <a:pPr lvl="1"/>
            <a:r>
              <a:rPr lang="pt-BR" dirty="0"/>
              <a:t>O ambiente representa o mundo onde o agente opera</a:t>
            </a:r>
          </a:p>
          <a:p>
            <a:pPr lvl="1"/>
            <a:r>
              <a:rPr lang="pt-BR" dirty="0"/>
              <a:t>Sempre que o agente executa uma ação, o ambiente responde alterando o seu estado e devolvendo uma recompensa</a:t>
            </a:r>
          </a:p>
          <a:p>
            <a:pPr lvl="2"/>
            <a:r>
              <a:rPr lang="pt-BR" dirty="0"/>
              <a:t>No Dance4Life, o ambiente simula o comportamento de um utilizador ao longo do tempo</a:t>
            </a:r>
          </a:p>
          <a:p>
            <a:pPr marL="0" indent="0">
              <a:buNone/>
            </a:pPr>
            <a:r>
              <a:rPr lang="en-GB" b="1" dirty="0"/>
              <a:t>Estado </a:t>
            </a:r>
          </a:p>
          <a:p>
            <a:pPr lvl="1"/>
            <a:r>
              <a:rPr lang="pt-BR" dirty="0"/>
              <a:t>O estado representa a situação atual observada pelo agente</a:t>
            </a:r>
          </a:p>
          <a:p>
            <a:pPr lvl="1"/>
            <a:r>
              <a:rPr lang="pt-BR" dirty="0"/>
              <a:t>É a informação utilizada para decidir qual a próxima ação</a:t>
            </a:r>
          </a:p>
          <a:p>
            <a:pPr lvl="1"/>
            <a:r>
              <a:rPr lang="pt-BR" dirty="0"/>
              <a:t>O estado do ambiente é representado por: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activity_level</a:t>
            </a:r>
            <a:r>
              <a:rPr lang="en-GB" dirty="0"/>
              <a:t>, </a:t>
            </a:r>
            <a:r>
              <a:rPr lang="en-GB" dirty="0" err="1"/>
              <a:t>physical_fatigue</a:t>
            </a:r>
            <a:r>
              <a:rPr lang="en-GB" dirty="0"/>
              <a:t>, </a:t>
            </a:r>
            <a:r>
              <a:rPr lang="en-GB" dirty="0" err="1"/>
              <a:t>irritation_level</a:t>
            </a:r>
            <a:r>
              <a:rPr lang="en-GB" dirty="0"/>
              <a:t>] </a:t>
            </a:r>
            <a:r>
              <a:rPr lang="en-GB" dirty="0" err="1"/>
              <a:t>exemplo</a:t>
            </a:r>
            <a:r>
              <a:rPr lang="en-GB" dirty="0"/>
              <a:t> [6, 2, 1]</a:t>
            </a:r>
            <a:endParaRPr lang="en-GB" b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4A5D4-8AE2-3327-3204-A86DFCEB1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25742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 err="1"/>
              <a:t>Ação</a:t>
            </a:r>
            <a:endParaRPr lang="en-GB" b="1" dirty="0"/>
          </a:p>
          <a:p>
            <a:pPr lvl="1"/>
            <a:r>
              <a:rPr lang="pt-BR" dirty="0"/>
              <a:t>Uma ação corresponde a uma decisão tomada pelo agente</a:t>
            </a:r>
          </a:p>
          <a:p>
            <a:pPr lvl="1"/>
            <a:r>
              <a:rPr lang="pt-BR" dirty="0"/>
              <a:t>Após observar o estado atual, o agente escolhe uma ação que considera mais vantajosa</a:t>
            </a:r>
            <a:r>
              <a:rPr lang="en-GB" b="1" dirty="0"/>
              <a:t> </a:t>
            </a:r>
          </a:p>
          <a:p>
            <a:pPr marL="0" indent="0">
              <a:buNone/>
            </a:pPr>
            <a:r>
              <a:rPr lang="en-GB" b="1" dirty="0" err="1"/>
              <a:t>Recompensa</a:t>
            </a:r>
            <a:r>
              <a:rPr lang="en-GB" b="1" dirty="0"/>
              <a:t> </a:t>
            </a:r>
          </a:p>
          <a:p>
            <a:pPr lvl="1"/>
            <a:r>
              <a:rPr lang="pt-BR" dirty="0"/>
              <a:t>A recompensa é o feedback fornecido pelo ambiente após a execução de uma ação.</a:t>
            </a:r>
          </a:p>
          <a:p>
            <a:pPr lvl="1"/>
            <a:r>
              <a:rPr lang="pt-BR" dirty="0"/>
              <a:t>O objetivo do treino é maximizar a soma das recompensas recebidas ao longo do tempo</a:t>
            </a:r>
          </a:p>
          <a:p>
            <a:pPr lvl="1"/>
            <a:r>
              <a:rPr lang="pt-BR" dirty="0"/>
              <a:t>A recompensa funciona como um mecanismo de aprendizagem que orienta o agente para comportamentos desejáveis</a:t>
            </a:r>
            <a:endParaRPr lang="en-GB" b="1" dirty="0"/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879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9B69-EE5E-EDC9-EDA7-E244BA7E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Reinforcement Learning Implementation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3F137-6771-F1AE-5FD5-E0CE977FF33C}"/>
              </a:ext>
            </a:extLst>
          </p:cNvPr>
          <p:cNvSpPr/>
          <p:nvPr/>
        </p:nvSpPr>
        <p:spPr>
          <a:xfrm>
            <a:off x="847725" y="2536825"/>
            <a:ext cx="1714500" cy="3365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Estado </a:t>
            </a:r>
            <a:r>
              <a:rPr lang="en-GB" dirty="0" err="1">
                <a:solidFill>
                  <a:schemeClr val="tx1"/>
                </a:solidFill>
              </a:rPr>
              <a:t>Inicial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594A6-4E73-2B62-DC61-89294BF1F8C3}"/>
              </a:ext>
            </a:extLst>
          </p:cNvPr>
          <p:cNvSpPr/>
          <p:nvPr/>
        </p:nvSpPr>
        <p:spPr>
          <a:xfrm>
            <a:off x="847725" y="3122612"/>
            <a:ext cx="1714500" cy="3365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Agente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11899-A78D-BE51-1BCF-88C90EA3366D}"/>
              </a:ext>
            </a:extLst>
          </p:cNvPr>
          <p:cNvSpPr/>
          <p:nvPr/>
        </p:nvSpPr>
        <p:spPr>
          <a:xfrm>
            <a:off x="847725" y="3662362"/>
            <a:ext cx="1714500" cy="3365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Ação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74C93F-1995-BD69-20AB-1A1A6BB768ED}"/>
              </a:ext>
            </a:extLst>
          </p:cNvPr>
          <p:cNvSpPr/>
          <p:nvPr/>
        </p:nvSpPr>
        <p:spPr>
          <a:xfrm>
            <a:off x="847725" y="4187824"/>
            <a:ext cx="1714500" cy="3365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Ambiente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D1EEF1-A947-EBA7-F079-16A74DBF6E65}"/>
              </a:ext>
            </a:extLst>
          </p:cNvPr>
          <p:cNvSpPr/>
          <p:nvPr/>
        </p:nvSpPr>
        <p:spPr>
          <a:xfrm>
            <a:off x="847725" y="4713285"/>
            <a:ext cx="1714500" cy="554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Novo Estado + </a:t>
            </a:r>
            <a:r>
              <a:rPr lang="en-GB" dirty="0" err="1">
                <a:solidFill>
                  <a:schemeClr val="tx1"/>
                </a:solidFill>
              </a:rPr>
              <a:t>Recompensa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070C02-2907-E3FC-E102-D15D8FE70FB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704975" y="2873375"/>
            <a:ext cx="0" cy="249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12F5F9-47EB-3AD1-0FF1-6681F49CF9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704975" y="3459162"/>
            <a:ext cx="0" cy="20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6F7F07-4A07-BEB7-B6AE-C8070454B8C5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704975" y="3998912"/>
            <a:ext cx="0" cy="18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ED8436-E42E-A847-58F3-A13BC2B7DF3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704975" y="4524374"/>
            <a:ext cx="0" cy="188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6FF8756-B9F6-86EF-4EC0-A8BF36BD0D61}"/>
              </a:ext>
            </a:extLst>
          </p:cNvPr>
          <p:cNvCxnSpPr>
            <a:stCxn id="9" idx="3"/>
            <a:endCxn id="6" idx="3"/>
          </p:cNvCxnSpPr>
          <p:nvPr/>
        </p:nvCxnSpPr>
        <p:spPr>
          <a:xfrm flipV="1">
            <a:off x="2562225" y="3290887"/>
            <a:ext cx="12700" cy="169941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C3D185-282A-8EDF-4F1C-615334613A30}"/>
              </a:ext>
            </a:extLst>
          </p:cNvPr>
          <p:cNvSpPr txBox="1"/>
          <p:nvPr/>
        </p:nvSpPr>
        <p:spPr>
          <a:xfrm>
            <a:off x="755650" y="2102922"/>
            <a:ext cx="1812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b="1" i="0" dirty="0">
                <a:solidFill>
                  <a:srgbClr val="3B3B3B"/>
                </a:solidFill>
                <a:effectLst/>
                <a:latin typeface="-apple-system"/>
              </a:rPr>
              <a:t>Learning Cycle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10D420D-B94F-2EFA-D4A5-C9FA4867B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907247"/>
              </p:ext>
            </p:extLst>
          </p:nvPr>
        </p:nvGraphicFramePr>
        <p:xfrm>
          <a:off x="3997325" y="2997993"/>
          <a:ext cx="33655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10585414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572794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19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Silence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Coaching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382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 Coaching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261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Coaching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9621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333E0A0-3C0C-C6EE-F0F1-49069004067C}"/>
              </a:ext>
            </a:extLst>
          </p:cNvPr>
          <p:cNvSpPr txBox="1"/>
          <p:nvPr/>
        </p:nvSpPr>
        <p:spPr>
          <a:xfrm>
            <a:off x="3921126" y="2102922"/>
            <a:ext cx="3143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Action Space</a:t>
            </a:r>
          </a:p>
          <a:p>
            <a:r>
              <a:rPr lang="en-GB" dirty="0"/>
              <a:t>O </a:t>
            </a:r>
            <a:r>
              <a:rPr lang="en-GB" dirty="0" err="1"/>
              <a:t>Agente</a:t>
            </a:r>
            <a:r>
              <a:rPr lang="en-GB" dirty="0"/>
              <a:t>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escolher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das </a:t>
            </a:r>
            <a:r>
              <a:rPr lang="en-GB" dirty="0" err="1"/>
              <a:t>seguinte</a:t>
            </a:r>
            <a:r>
              <a:rPr lang="en-GB" dirty="0"/>
              <a:t> </a:t>
            </a:r>
            <a:r>
              <a:rPr lang="en-GB" dirty="0" err="1"/>
              <a:t>ações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D7E453-4E91-1C8D-347B-948EE9822B52}"/>
              </a:ext>
            </a:extLst>
          </p:cNvPr>
          <p:cNvSpPr txBox="1"/>
          <p:nvPr/>
        </p:nvSpPr>
        <p:spPr>
          <a:xfrm>
            <a:off x="8397875" y="2232440"/>
            <a:ext cx="34099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Reward Function</a:t>
            </a:r>
          </a:p>
          <a:p>
            <a:r>
              <a:rPr lang="en-GB" u="sng" dirty="0" err="1"/>
              <a:t>Recompensa</a:t>
            </a:r>
            <a:r>
              <a:rPr lang="en-GB" u="sng" dirty="0"/>
              <a:t> </a:t>
            </a:r>
            <a:r>
              <a:rPr lang="en-GB" u="sng" dirty="0" err="1"/>
              <a:t>Positiva</a:t>
            </a:r>
            <a:endParaRPr lang="en-GB" u="sng" dirty="0"/>
          </a:p>
          <a:p>
            <a:r>
              <a:rPr lang="en-GB" dirty="0"/>
              <a:t>+ 15 </a:t>
            </a:r>
            <a:r>
              <a:rPr lang="en-GB" dirty="0" err="1"/>
              <a:t>quando</a:t>
            </a:r>
            <a:r>
              <a:rPr lang="en-GB" dirty="0"/>
              <a:t>:</a:t>
            </a:r>
          </a:p>
          <a:p>
            <a:r>
              <a:rPr lang="en-GB" dirty="0" err="1"/>
              <a:t>activity_level</a:t>
            </a:r>
            <a:r>
              <a:rPr lang="en-GB" dirty="0"/>
              <a:t> ∈ [4,7]</a:t>
            </a:r>
          </a:p>
          <a:p>
            <a:r>
              <a:rPr lang="en-GB" dirty="0" err="1"/>
              <a:t>physical_fatigue</a:t>
            </a:r>
            <a:r>
              <a:rPr lang="en-GB" dirty="0"/>
              <a:t> &lt; 7</a:t>
            </a:r>
          </a:p>
          <a:p>
            <a:r>
              <a:rPr lang="en-GB" dirty="0" err="1"/>
              <a:t>irritation_level</a:t>
            </a:r>
            <a:r>
              <a:rPr lang="en-GB" dirty="0"/>
              <a:t> &lt; 5</a:t>
            </a:r>
          </a:p>
          <a:p>
            <a:r>
              <a:rPr lang="en-GB" u="sng" dirty="0" err="1"/>
              <a:t>Penalização</a:t>
            </a:r>
            <a:r>
              <a:rPr lang="en-GB" u="sng" dirty="0"/>
              <a:t> </a:t>
            </a:r>
            <a:r>
              <a:rPr lang="en-GB" u="sng" dirty="0" err="1"/>
              <a:t>por</a:t>
            </a:r>
            <a:r>
              <a:rPr lang="en-GB" u="sng" dirty="0"/>
              <a:t> Baixa </a:t>
            </a:r>
            <a:r>
              <a:rPr lang="en-GB" u="sng" dirty="0" err="1"/>
              <a:t>Atividade</a:t>
            </a:r>
            <a:endParaRPr lang="en-GB" u="sng" dirty="0"/>
          </a:p>
          <a:p>
            <a:r>
              <a:rPr lang="en-GB" dirty="0"/>
              <a:t>- 5 </a:t>
            </a:r>
            <a:r>
              <a:rPr lang="en-GB" dirty="0" err="1"/>
              <a:t>quando</a:t>
            </a:r>
            <a:r>
              <a:rPr lang="en-GB" dirty="0"/>
              <a:t>:</a:t>
            </a:r>
          </a:p>
          <a:p>
            <a:r>
              <a:rPr lang="en-GB" dirty="0" err="1"/>
              <a:t>activity_level</a:t>
            </a:r>
            <a:r>
              <a:rPr lang="en-GB" dirty="0"/>
              <a:t> &lt; 2</a:t>
            </a:r>
          </a:p>
          <a:p>
            <a:r>
              <a:rPr lang="en-GB" u="sng" dirty="0" err="1"/>
              <a:t>Penalização</a:t>
            </a:r>
            <a:r>
              <a:rPr lang="en-GB" u="sng" dirty="0"/>
              <a:t> </a:t>
            </a:r>
            <a:r>
              <a:rPr lang="en-GB" u="sng" dirty="0" err="1"/>
              <a:t>por</a:t>
            </a:r>
            <a:r>
              <a:rPr lang="en-GB" u="sng" dirty="0"/>
              <a:t> Estado </a:t>
            </a:r>
            <a:r>
              <a:rPr lang="en-GB" u="sng" dirty="0" err="1"/>
              <a:t>Crítico</a:t>
            </a:r>
            <a:endParaRPr lang="en-GB" u="sng" dirty="0"/>
          </a:p>
          <a:p>
            <a:r>
              <a:rPr lang="en-GB" dirty="0"/>
              <a:t>-50 </a:t>
            </a:r>
            <a:r>
              <a:rPr lang="en-GB" dirty="0" err="1"/>
              <a:t>quando</a:t>
            </a:r>
            <a:r>
              <a:rPr lang="en-GB" dirty="0"/>
              <a:t>:</a:t>
            </a:r>
          </a:p>
          <a:p>
            <a:r>
              <a:rPr lang="en-GB" dirty="0" err="1"/>
              <a:t>physical_fatigue</a:t>
            </a:r>
            <a:r>
              <a:rPr lang="en-GB" dirty="0"/>
              <a:t> &gt;= 10</a:t>
            </a:r>
          </a:p>
          <a:p>
            <a:r>
              <a:rPr lang="en-GB" dirty="0"/>
              <a:t>Ou</a:t>
            </a:r>
          </a:p>
          <a:p>
            <a:r>
              <a:rPr lang="en-GB" dirty="0" err="1"/>
              <a:t>irritation_level</a:t>
            </a:r>
            <a:r>
              <a:rPr lang="en-GB" dirty="0"/>
              <a:t> &gt;= 10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248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7FB7-8CD8-B2EB-CE9D-96686D818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Supported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921B6-1B14-70BF-F60A-719784FA4B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PPO (Proximal Policy Optimization)</a:t>
            </a:r>
          </a:p>
          <a:p>
            <a:r>
              <a:rPr lang="pt-BR" dirty="0"/>
              <a:t>O PPO é um algoritmo baseado em Policy Gradient.</a:t>
            </a:r>
          </a:p>
          <a:p>
            <a:r>
              <a:rPr lang="pt-BR" dirty="0"/>
              <a:t>Em vez de aprender diretamente o valor de cada ação, aprende uma política que produz probabilidades para cada ação disponível.</a:t>
            </a:r>
          </a:p>
          <a:p>
            <a:r>
              <a:rPr lang="pt-BR" dirty="0"/>
              <a:t>Vantagens</a:t>
            </a:r>
          </a:p>
          <a:p>
            <a:pPr lvl="1"/>
            <a:r>
              <a:rPr lang="pt-BR" dirty="0"/>
              <a:t>Treino estável</a:t>
            </a:r>
          </a:p>
          <a:p>
            <a:pPr lvl="1"/>
            <a:r>
              <a:rPr lang="pt-BR" dirty="0"/>
              <a:t>Boa capacidade de generalização</a:t>
            </a:r>
          </a:p>
          <a:p>
            <a:pPr lvl="1"/>
            <a:r>
              <a:rPr lang="pt-BR" dirty="0"/>
              <a:t>Menor sensibilidade a hiperparâmetros</a:t>
            </a:r>
          </a:p>
          <a:p>
            <a:pPr lvl="1"/>
            <a:r>
              <a:rPr lang="pt-BR" dirty="0"/>
              <a:t>Excelente desempenho em ambientes complexos</a:t>
            </a:r>
          </a:p>
          <a:p>
            <a:r>
              <a:rPr lang="pt-BR" dirty="0"/>
              <a:t>Funcionamento</a:t>
            </a:r>
          </a:p>
          <a:p>
            <a:pPr lvl="1"/>
            <a:r>
              <a:rPr lang="pt-BR" dirty="0"/>
              <a:t>O agente interage com o ambiente.</a:t>
            </a:r>
          </a:p>
          <a:p>
            <a:pPr lvl="1"/>
            <a:r>
              <a:rPr lang="pt-BR" dirty="0"/>
              <a:t>São recolhidas trajetórias de experiência.</a:t>
            </a:r>
          </a:p>
          <a:p>
            <a:pPr lvl="1"/>
            <a:r>
              <a:rPr lang="pt-BR" dirty="0"/>
              <a:t>É calculada a vantagem (Advantage Estimate).</a:t>
            </a:r>
          </a:p>
          <a:p>
            <a:pPr lvl="1"/>
            <a:r>
              <a:rPr lang="pt-BR" dirty="0"/>
              <a:t>A política é atualizada através de clipping.</a:t>
            </a:r>
          </a:p>
          <a:p>
            <a:pPr lvl="1"/>
            <a:r>
              <a:rPr lang="pt-BR" dirty="0"/>
              <a:t>O processo repete-se até convergência.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B3624-329F-309F-73B9-26A8E395EA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DQN (Deep Q-Network)</a:t>
            </a:r>
          </a:p>
          <a:p>
            <a:r>
              <a:rPr lang="pt-BR" dirty="0"/>
              <a:t>O DQN é um algoritmo baseado em Value Functions.</a:t>
            </a:r>
          </a:p>
          <a:p>
            <a:r>
              <a:rPr lang="pt-BR" dirty="0"/>
              <a:t>Aprende uma função Q(state, action), que estima a recompensa futura esperada para cada ação.</a:t>
            </a:r>
          </a:p>
          <a:p>
            <a:r>
              <a:rPr lang="pt-BR" dirty="0"/>
              <a:t>Vantagens</a:t>
            </a:r>
          </a:p>
          <a:p>
            <a:pPr lvl="1"/>
            <a:r>
              <a:rPr lang="pt-BR" dirty="0"/>
              <a:t>Simples de interpretar</a:t>
            </a:r>
          </a:p>
          <a:p>
            <a:pPr lvl="1"/>
            <a:r>
              <a:rPr lang="pt-BR" dirty="0"/>
              <a:t>Muito eficaz para ações discretas</a:t>
            </a:r>
          </a:p>
          <a:p>
            <a:pPr lvl="1"/>
            <a:r>
              <a:rPr lang="pt-BR" dirty="0"/>
              <a:t>Treino rápido</a:t>
            </a:r>
          </a:p>
          <a:p>
            <a:r>
              <a:rPr lang="pt-BR" dirty="0"/>
              <a:t>Funcionamento</a:t>
            </a:r>
          </a:p>
          <a:p>
            <a:pPr lvl="1"/>
            <a:r>
              <a:rPr lang="pt-BR" dirty="0"/>
              <a:t>O agente observa um estado.</a:t>
            </a:r>
          </a:p>
          <a:p>
            <a:pPr lvl="1"/>
            <a:r>
              <a:rPr lang="pt-BR" dirty="0"/>
              <a:t>A rede calcula os valores Q para cada ação.</a:t>
            </a:r>
          </a:p>
          <a:p>
            <a:pPr lvl="1"/>
            <a:r>
              <a:rPr lang="pt-BR" dirty="0"/>
              <a:t>É escolhida a ação com maior valor esperado.</a:t>
            </a:r>
          </a:p>
          <a:p>
            <a:pPr lvl="1"/>
            <a:r>
              <a:rPr lang="pt-BR" dirty="0"/>
              <a:t>A experiência é armazenada num Replay Buffer.</a:t>
            </a:r>
          </a:p>
          <a:p>
            <a:pPr lvl="1"/>
            <a:r>
              <a:rPr lang="pt-BR" dirty="0"/>
              <a:t>O treino é realizado através de amostragem aleatória desse buffer.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93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9857-3169-7B41-5E3B-6921C6FB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Configuration (</a:t>
            </a:r>
            <a:r>
              <a:rPr lang="en-GB" dirty="0" err="1"/>
              <a:t>training_config.yaml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B1036-FE7C-E95A-3A51-9B932F048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471263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PPO Configuration</a:t>
            </a:r>
          </a:p>
          <a:p>
            <a:pPr lvl="1"/>
            <a:r>
              <a:rPr lang="en-GB" dirty="0"/>
              <a:t> </a:t>
            </a:r>
            <a:r>
              <a:rPr lang="en-GB" dirty="0" err="1"/>
              <a:t>learning_rate</a:t>
            </a:r>
            <a:r>
              <a:rPr lang="en-GB" dirty="0"/>
              <a:t>: 0.0003 #Taxa de </a:t>
            </a:r>
            <a:r>
              <a:rPr lang="en-GB" dirty="0" err="1"/>
              <a:t>aprendizagem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n_steps</a:t>
            </a:r>
            <a:r>
              <a:rPr lang="en-GB" dirty="0"/>
              <a:t>: 1024 #</a:t>
            </a:r>
            <a:r>
              <a:rPr lang="pt-BR" dirty="0"/>
              <a:t>Passos recolhidos antes da atualização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batch_size</a:t>
            </a:r>
            <a:r>
              <a:rPr lang="en-GB" dirty="0"/>
              <a:t>: 64 #Tamanho do mini-batch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n_epochs</a:t>
            </a:r>
            <a:r>
              <a:rPr lang="en-GB" dirty="0"/>
              <a:t>: 10 #Número de </a:t>
            </a:r>
            <a:r>
              <a:rPr lang="en-GB" dirty="0" err="1"/>
              <a:t>épocas</a:t>
            </a:r>
            <a:endParaRPr lang="en-GB" dirty="0"/>
          </a:p>
          <a:p>
            <a:pPr lvl="1"/>
            <a:r>
              <a:rPr lang="en-GB" dirty="0"/>
              <a:t>  gamma: 0.99 #Discount factor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gae_lambda</a:t>
            </a:r>
            <a:r>
              <a:rPr lang="en-GB" dirty="0"/>
              <a:t>: 0.95 #Generalized Advantage Estimation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clip_range</a:t>
            </a:r>
            <a:r>
              <a:rPr lang="en-GB" dirty="0"/>
              <a:t>: 0.2 #Limite de clipping PPO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ent_coef</a:t>
            </a:r>
            <a:r>
              <a:rPr lang="en-GB" dirty="0"/>
              <a:t>: 0.01 #Incentivo à </a:t>
            </a:r>
            <a:r>
              <a:rPr lang="en-GB" dirty="0" err="1"/>
              <a:t>exploração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vf_coef</a:t>
            </a:r>
            <a:r>
              <a:rPr lang="en-GB" dirty="0"/>
              <a:t>: 0.5 #Peso da Value Function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max_grad_norm</a:t>
            </a:r>
            <a:r>
              <a:rPr lang="en-GB" dirty="0"/>
              <a:t>: 0.5 #Gradient clipping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6036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34A40-A1BE-D678-E6F4-0BFFF983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AB01-2332-66AC-CA3F-239E285F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Configuration (</a:t>
            </a:r>
            <a:r>
              <a:rPr lang="en-GB" dirty="0" err="1"/>
              <a:t>training_config.yaml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B5218-F319-A814-799E-DC28485A6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471263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DQN Configuration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learning_rate</a:t>
            </a:r>
            <a:r>
              <a:rPr lang="en-GB" dirty="0"/>
              <a:t>: 0.0005 #Taxa de </a:t>
            </a:r>
            <a:r>
              <a:rPr lang="en-GB" dirty="0" err="1"/>
              <a:t>aprendizagem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buffer_size</a:t>
            </a:r>
            <a:r>
              <a:rPr lang="en-GB" dirty="0"/>
              <a:t>: 100000 #</a:t>
            </a:r>
            <a:r>
              <a:rPr lang="pt-BR" dirty="0"/>
              <a:t>Replay Buffer Size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learning_starts</a:t>
            </a:r>
            <a:r>
              <a:rPr lang="en-GB" dirty="0"/>
              <a:t>: 5000 #</a:t>
            </a:r>
            <a:r>
              <a:rPr lang="pt-BR" dirty="0"/>
              <a:t>Passos antes de iniciar treino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batch_size</a:t>
            </a:r>
            <a:r>
              <a:rPr lang="en-GB" dirty="0"/>
              <a:t>: 128 #Tamanho do batch</a:t>
            </a:r>
          </a:p>
          <a:p>
            <a:pPr lvl="1"/>
            <a:r>
              <a:rPr lang="en-GB" dirty="0"/>
              <a:t>  tau: 1.0 #Soft Update Factor</a:t>
            </a:r>
          </a:p>
          <a:p>
            <a:pPr lvl="1"/>
            <a:r>
              <a:rPr lang="en-GB" dirty="0"/>
              <a:t>  gamma: 0.99 #Discount Factor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train_freq</a:t>
            </a:r>
            <a:r>
              <a:rPr lang="en-GB" dirty="0"/>
              <a:t>: 4 #Frequência de </a:t>
            </a:r>
            <a:r>
              <a:rPr lang="en-GB" dirty="0" err="1"/>
              <a:t>treino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gradient_steps</a:t>
            </a:r>
            <a:r>
              <a:rPr lang="en-GB" dirty="0"/>
              <a:t>: 1 #Atualizações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ciclo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target_update_interval</a:t>
            </a:r>
            <a:r>
              <a:rPr lang="en-GB" dirty="0"/>
              <a:t>: 1000 #Atualização da Target Network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exploration_fraction</a:t>
            </a:r>
            <a:r>
              <a:rPr lang="en-GB" dirty="0"/>
              <a:t>: 0.25 #Percentagem de </a:t>
            </a:r>
            <a:r>
              <a:rPr lang="en-GB" dirty="0" err="1"/>
              <a:t>exploração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exploration_initial_eps</a:t>
            </a:r>
            <a:r>
              <a:rPr lang="en-GB" dirty="0"/>
              <a:t>: 1.0 #Epsilon </a:t>
            </a:r>
            <a:r>
              <a:rPr lang="en-GB" dirty="0" err="1"/>
              <a:t>inicial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exploration_final_eps</a:t>
            </a:r>
            <a:r>
              <a:rPr lang="en-GB" dirty="0"/>
              <a:t>: 0.05 #Epsilon final</a:t>
            </a:r>
          </a:p>
          <a:p>
            <a:pPr lvl="1"/>
            <a:r>
              <a:rPr lang="en-GB" dirty="0"/>
              <a:t>  </a:t>
            </a:r>
            <a:r>
              <a:rPr lang="en-GB" dirty="0" err="1"/>
              <a:t>max_grad_norm</a:t>
            </a:r>
            <a:r>
              <a:rPr lang="en-GB" dirty="0"/>
              <a:t>: 10.0 #Gradient clipping</a:t>
            </a:r>
          </a:p>
        </p:txBody>
      </p:sp>
    </p:spTree>
    <p:extLst>
      <p:ext uri="{BB962C8B-B14F-4D97-AF65-F5344CB8AC3E}">
        <p14:creationId xmlns:p14="http://schemas.microsoft.com/office/powerpoint/2010/main" val="402882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A6EF-C00B-1539-5F75-A460FA4A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F014-EF9C-C5D9-54D8-01B2FD52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Configuration (</a:t>
            </a:r>
            <a:r>
              <a:rPr lang="en-GB" dirty="0" err="1"/>
              <a:t>training_config.yaml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A24B-CDE1-FCE1-33F8-6E1C4D86D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471263" cy="2894421"/>
          </a:xfrm>
        </p:spPr>
        <p:txBody>
          <a:bodyPr>
            <a:normAutofit/>
          </a:bodyPr>
          <a:lstStyle/>
          <a:p>
            <a:r>
              <a:rPr lang="en-GB" dirty="0"/>
              <a:t>Global Training Parameters</a:t>
            </a:r>
          </a:p>
          <a:p>
            <a:pPr lvl="1"/>
            <a:r>
              <a:rPr lang="en-GB" dirty="0"/>
              <a:t> </a:t>
            </a:r>
            <a:r>
              <a:rPr lang="en-GB" dirty="0" err="1"/>
              <a:t>total_timesteps</a:t>
            </a:r>
            <a:r>
              <a:rPr lang="en-GB" dirty="0"/>
              <a:t>: 400000 #Número total de </a:t>
            </a:r>
            <a:r>
              <a:rPr lang="en-GB" dirty="0" err="1"/>
              <a:t>interações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n_envs</a:t>
            </a:r>
            <a:r>
              <a:rPr lang="en-GB" dirty="0"/>
              <a:t>: 8 #Ambientes </a:t>
            </a:r>
            <a:r>
              <a:rPr lang="en-GB" dirty="0" err="1"/>
              <a:t>paralelos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eval_freq</a:t>
            </a:r>
            <a:r>
              <a:rPr lang="en-GB" dirty="0"/>
              <a:t>: 10000 #Frequência de </a:t>
            </a:r>
            <a:r>
              <a:rPr lang="en-GB" dirty="0" err="1"/>
              <a:t>avaliação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n_eval_episodes</a:t>
            </a:r>
            <a:r>
              <a:rPr lang="en-GB" dirty="0"/>
              <a:t>: 20 #Episódios de </a:t>
            </a:r>
            <a:r>
              <a:rPr lang="en-GB" dirty="0" err="1"/>
              <a:t>avaliação</a:t>
            </a:r>
            <a:endParaRPr lang="en-GB" dirty="0"/>
          </a:p>
          <a:p>
            <a:pPr lvl="1"/>
            <a:r>
              <a:rPr lang="en-GB" dirty="0"/>
              <a:t>  seed: 42 #Seed de </a:t>
            </a:r>
            <a:r>
              <a:rPr lang="en-GB" dirty="0" err="1"/>
              <a:t>reprodutibilidade</a:t>
            </a:r>
            <a:endParaRPr lang="en-GB" dirty="0"/>
          </a:p>
          <a:p>
            <a:pPr lvl="1"/>
            <a:r>
              <a:rPr lang="en-GB" dirty="0"/>
              <a:t>  </a:t>
            </a:r>
            <a:r>
              <a:rPr lang="en-GB" dirty="0" err="1"/>
              <a:t>episode_length</a:t>
            </a:r>
            <a:r>
              <a:rPr lang="en-GB" dirty="0"/>
              <a:t>: 96 #Duração </a:t>
            </a:r>
            <a:r>
              <a:rPr lang="en-GB" dirty="0" err="1"/>
              <a:t>máxima</a:t>
            </a:r>
            <a:r>
              <a:rPr lang="en-GB" dirty="0"/>
              <a:t> do </a:t>
            </a:r>
            <a:r>
              <a:rPr lang="en-GB" dirty="0" err="1"/>
              <a:t>episódio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782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CCA6-F179-14CE-4D7F-0B025F26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3988AA-5DE9-9E53-442C-4465BE9FB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1690688"/>
            <a:ext cx="3529164" cy="5086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22B7A2-65C9-410B-D8EF-B1F920816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09" y="1714501"/>
            <a:ext cx="4410091" cy="298017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885B0B-8FCE-B863-D03E-B4DA15D42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98732" y="1844675"/>
            <a:ext cx="3759918" cy="4351338"/>
          </a:xfrm>
        </p:spPr>
        <p:txBody>
          <a:bodyPr>
            <a:normAutofit/>
          </a:bodyPr>
          <a:lstStyle/>
          <a:p>
            <a:r>
              <a:rPr lang="en-GB" sz="1600" dirty="0"/>
              <a:t>Train PPO</a:t>
            </a:r>
          </a:p>
          <a:p>
            <a:pPr lvl="1"/>
            <a:r>
              <a:rPr lang="en-GB" sz="1400" dirty="0"/>
              <a:t>python src/train.py --algo </a:t>
            </a:r>
            <a:r>
              <a:rPr lang="en-GB" sz="1400" dirty="0" err="1"/>
              <a:t>ppo</a:t>
            </a:r>
            <a:endParaRPr lang="en-GB" sz="1400" dirty="0"/>
          </a:p>
          <a:p>
            <a:r>
              <a:rPr lang="en-GB" sz="1600" dirty="0"/>
              <a:t>Train DQN</a:t>
            </a:r>
          </a:p>
          <a:p>
            <a:pPr lvl="1"/>
            <a:r>
              <a:rPr lang="en-GB" sz="1400" dirty="0"/>
              <a:t>python src/train.py --algo </a:t>
            </a:r>
            <a:r>
              <a:rPr lang="en-GB" sz="1400" dirty="0" err="1"/>
              <a:t>dqn</a:t>
            </a:r>
            <a:endParaRPr lang="en-GB" sz="1400" dirty="0"/>
          </a:p>
          <a:p>
            <a:r>
              <a:rPr lang="en-GB" sz="1600" dirty="0"/>
              <a:t>Train Both</a:t>
            </a:r>
          </a:p>
          <a:p>
            <a:pPr lvl="1"/>
            <a:r>
              <a:rPr lang="en-GB" sz="1400" dirty="0"/>
              <a:t>python src/train.py --config config/</a:t>
            </a:r>
            <a:r>
              <a:rPr lang="en-GB" sz="1400" dirty="0" err="1"/>
              <a:t>training_config.yaml</a:t>
            </a:r>
            <a:r>
              <a:rPr lang="en-GB" sz="1400" dirty="0"/>
              <a:t> --algo both</a:t>
            </a:r>
          </a:p>
          <a:p>
            <a:r>
              <a:rPr lang="en-GB" sz="1600" dirty="0"/>
              <a:t>Training Outputs</a:t>
            </a:r>
          </a:p>
          <a:p>
            <a:pPr lvl="1"/>
            <a:r>
              <a:rPr lang="en-GB" sz="1400" dirty="0" err="1"/>
              <a:t>Os</a:t>
            </a:r>
            <a:r>
              <a:rPr lang="en-GB" sz="1400" dirty="0"/>
              <a:t> </a:t>
            </a:r>
            <a:r>
              <a:rPr lang="en-GB" sz="1400" dirty="0" err="1"/>
              <a:t>modelos</a:t>
            </a:r>
            <a:r>
              <a:rPr lang="en-GB" sz="1400" dirty="0"/>
              <a:t> </a:t>
            </a:r>
            <a:r>
              <a:rPr lang="en-GB" sz="1400" dirty="0" err="1"/>
              <a:t>treinados</a:t>
            </a:r>
            <a:r>
              <a:rPr lang="en-GB" sz="1400" dirty="0"/>
              <a:t> </a:t>
            </a:r>
            <a:r>
              <a:rPr lang="en-GB" sz="1400" dirty="0" err="1"/>
              <a:t>são</a:t>
            </a:r>
            <a:r>
              <a:rPr lang="en-GB" sz="1400" dirty="0"/>
              <a:t> </a:t>
            </a:r>
            <a:r>
              <a:rPr lang="en-GB" sz="1400" dirty="0" err="1"/>
              <a:t>armazenados</a:t>
            </a:r>
            <a:r>
              <a:rPr lang="en-GB" sz="1400" dirty="0"/>
              <a:t> </a:t>
            </a:r>
            <a:r>
              <a:rPr lang="en-GB" sz="1400" dirty="0" err="1"/>
              <a:t>em</a:t>
            </a:r>
            <a:r>
              <a:rPr lang="en-GB" sz="1400" dirty="0"/>
              <a:t>:</a:t>
            </a:r>
          </a:p>
          <a:p>
            <a:pPr lvl="2"/>
            <a:r>
              <a:rPr lang="en-GB" sz="1200" dirty="0"/>
              <a:t>training/checkpoints/</a:t>
            </a:r>
          </a:p>
        </p:txBody>
      </p:sp>
    </p:spTree>
    <p:extLst>
      <p:ext uri="{BB962C8B-B14F-4D97-AF65-F5344CB8AC3E}">
        <p14:creationId xmlns:p14="http://schemas.microsoft.com/office/powerpoint/2010/main" val="278726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7593-A67C-CA13-F7E7-EA55C8DD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1F3F0-CDE6-F29F-5DDA-1F51A27C5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831165"/>
            <a:ext cx="4322324" cy="3617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00221-A737-6AA9-6B7D-9CC8EB82E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049" y="1831165"/>
            <a:ext cx="3785881" cy="4429550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7561AB4-7DBF-4D37-870B-5130AAB5A643}"/>
              </a:ext>
            </a:extLst>
          </p:cNvPr>
          <p:cNvSpPr txBox="1">
            <a:spLocks/>
          </p:cNvSpPr>
          <p:nvPr/>
        </p:nvSpPr>
        <p:spPr>
          <a:xfrm>
            <a:off x="8256149" y="1843055"/>
            <a:ext cx="34691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/>
              <a:t>Evaluation</a:t>
            </a:r>
          </a:p>
          <a:p>
            <a:pPr lvl="1"/>
            <a:r>
              <a:rPr lang="en-GB" sz="1600"/>
              <a:t>Comparação entre PPO e DQN:</a:t>
            </a:r>
          </a:p>
          <a:p>
            <a:pPr lvl="2"/>
            <a:r>
              <a:rPr lang="en-GB" sz="1400"/>
              <a:t>python src/evaluate.py --algo compare --episodes 20</a:t>
            </a:r>
          </a:p>
          <a:p>
            <a:pPr lvl="1"/>
            <a:r>
              <a:rPr lang="en-GB" sz="1600"/>
              <a:t>Avaliação individual:</a:t>
            </a:r>
          </a:p>
          <a:p>
            <a:pPr lvl="2"/>
            <a:r>
              <a:rPr lang="en-GB" sz="1400"/>
              <a:t>python src/evaluate.py --algo ppo --model checkpoints/ppo/best/best_model</a:t>
            </a:r>
          </a:p>
          <a:p>
            <a:pPr lvl="2"/>
            <a:r>
              <a:rPr lang="en-GB" sz="1400"/>
              <a:t>python src/evaluate.py --algo dqn --model checkpoints/dqn/best/best_model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8442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E17F-5290-EA8B-24AD-7B13BF2F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ONNX Export/Android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218E-ACB7-E265-7229-481634145D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Após o treino, os modelos Stable-Baselines3 devem ser convertidos para ONNX para utilização na aplicação Android.</a:t>
            </a:r>
          </a:p>
          <a:p>
            <a:pPr lvl="1"/>
            <a:r>
              <a:rPr lang="en-GB" dirty="0"/>
              <a:t>export/export_onnx.py</a:t>
            </a:r>
          </a:p>
          <a:p>
            <a:pPr lvl="2"/>
            <a:r>
              <a:rPr lang="pt-BR" dirty="0"/>
              <a:t>Carrega um modelo PPO ou DQN treinado.</a:t>
            </a:r>
          </a:p>
          <a:p>
            <a:pPr lvl="2"/>
            <a:r>
              <a:rPr lang="pt-BR" dirty="0"/>
              <a:t>Extrai a rede de inferência.</a:t>
            </a:r>
          </a:p>
          <a:p>
            <a:pPr lvl="2"/>
            <a:r>
              <a:rPr lang="pt-BR" dirty="0"/>
              <a:t>Converte a rede para ONNX.</a:t>
            </a:r>
          </a:p>
          <a:p>
            <a:pPr lvl="2"/>
            <a:r>
              <a:rPr lang="pt-BR" dirty="0"/>
              <a:t>Gera um ficheiro compatível com ONNX Runtime.</a:t>
            </a:r>
          </a:p>
          <a:p>
            <a:pPr lvl="2"/>
            <a:r>
              <a:rPr lang="pt-BR" dirty="0"/>
              <a:t>Opcionalmente valida o modelo exportado.</a:t>
            </a:r>
          </a:p>
          <a:p>
            <a:pPr lvl="2"/>
            <a:r>
              <a:rPr lang="pt-BR" dirty="0"/>
              <a:t>O objetivo é remover a dependência de Python e Stable-Baselines3 em ambiente mobile.</a:t>
            </a:r>
          </a:p>
          <a:p>
            <a:pPr lv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B929C-E800-AB56-FB6F-B19F700A82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ONNX Inputs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activity_level</a:t>
            </a:r>
            <a:r>
              <a:rPr lang="en-GB" dirty="0"/>
              <a:t>, </a:t>
            </a:r>
            <a:r>
              <a:rPr lang="en-GB" dirty="0" err="1"/>
              <a:t>physical_fatigue</a:t>
            </a:r>
            <a:r>
              <a:rPr lang="en-GB" dirty="0"/>
              <a:t>, </a:t>
            </a:r>
            <a:r>
              <a:rPr lang="en-GB" dirty="0" err="1"/>
              <a:t>irritation_level</a:t>
            </a:r>
            <a:r>
              <a:rPr lang="en-GB" dirty="0"/>
              <a:t>]</a:t>
            </a:r>
          </a:p>
          <a:p>
            <a:r>
              <a:rPr lang="en-GB" dirty="0"/>
              <a:t>ONNX Outputs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action_scores</a:t>
            </a:r>
            <a:r>
              <a:rPr lang="en-GB" dirty="0"/>
              <a:t>]</a:t>
            </a:r>
          </a:p>
          <a:p>
            <a:pPr lvl="2"/>
            <a:r>
              <a:rPr lang="en-GB" dirty="0"/>
              <a:t>0 = Silence</a:t>
            </a:r>
          </a:p>
          <a:p>
            <a:pPr lvl="2"/>
            <a:r>
              <a:rPr lang="en-GB" dirty="0"/>
              <a:t>1 = Low Coaching</a:t>
            </a:r>
          </a:p>
          <a:p>
            <a:pPr lvl="2"/>
            <a:r>
              <a:rPr lang="en-GB" dirty="0"/>
              <a:t>2 = Medium Coaching</a:t>
            </a:r>
          </a:p>
          <a:p>
            <a:pPr lvl="2"/>
            <a:r>
              <a:rPr lang="en-GB" dirty="0"/>
              <a:t>3 = High Coaching</a:t>
            </a:r>
          </a:p>
          <a:p>
            <a:r>
              <a:rPr lang="en-GB" dirty="0"/>
              <a:t>Android Integration</a:t>
            </a:r>
          </a:p>
          <a:p>
            <a:pPr lvl="1"/>
            <a:r>
              <a:rPr lang="en-GB" dirty="0" err="1"/>
              <a:t>Após</a:t>
            </a:r>
            <a:r>
              <a:rPr lang="en-GB" dirty="0"/>
              <a:t> a </a:t>
            </a:r>
            <a:r>
              <a:rPr lang="en-GB" dirty="0" err="1"/>
              <a:t>exportação</a:t>
            </a:r>
            <a:r>
              <a:rPr lang="en-GB" dirty="0"/>
              <a:t>, o </a:t>
            </a:r>
            <a:r>
              <a:rPr lang="en-GB" dirty="0" err="1"/>
              <a:t>ficheiro</a:t>
            </a:r>
            <a:r>
              <a:rPr lang="en-GB" dirty="0"/>
              <a:t> ONNX </a:t>
            </a:r>
            <a:r>
              <a:rPr lang="en-GB" dirty="0" err="1"/>
              <a:t>deve</a:t>
            </a:r>
            <a:r>
              <a:rPr lang="en-GB" dirty="0"/>
              <a:t> ser </a:t>
            </a:r>
            <a:r>
              <a:rPr lang="en-GB" dirty="0" err="1"/>
              <a:t>copiado</a:t>
            </a:r>
            <a:r>
              <a:rPr lang="en-GB" dirty="0"/>
              <a:t> </a:t>
            </a:r>
            <a:r>
              <a:rPr lang="en-GB" dirty="0" err="1"/>
              <a:t>manualmente</a:t>
            </a:r>
            <a:r>
              <a:rPr lang="en-GB" dirty="0"/>
              <a:t> para:</a:t>
            </a:r>
          </a:p>
          <a:p>
            <a:pPr lvl="2"/>
            <a:r>
              <a:rPr lang="en-GB" dirty="0"/>
              <a:t>Dance4Life\</a:t>
            </a:r>
            <a:r>
              <a:rPr lang="en-GB" dirty="0" err="1"/>
              <a:t>AndroidSensor</a:t>
            </a:r>
            <a:r>
              <a:rPr lang="en-GB" dirty="0"/>
              <a:t>\core\</a:t>
            </a:r>
            <a:r>
              <a:rPr lang="en-GB" dirty="0" err="1"/>
              <a:t>src</a:t>
            </a:r>
            <a:r>
              <a:rPr lang="en-GB" dirty="0"/>
              <a:t>\main\java\com\dance4life\core\data\</a:t>
            </a:r>
            <a:r>
              <a:rPr lang="en-GB" dirty="0" err="1"/>
              <a:t>rl</a:t>
            </a:r>
            <a:endParaRPr lang="en-GB" dirty="0"/>
          </a:p>
          <a:p>
            <a:pPr lvl="1"/>
            <a:r>
              <a:rPr lang="en-GB" dirty="0"/>
              <a:t>A </a:t>
            </a:r>
            <a:r>
              <a:rPr lang="en-GB" dirty="0" err="1"/>
              <a:t>aplicação</a:t>
            </a:r>
            <a:r>
              <a:rPr lang="en-GB" dirty="0"/>
              <a:t> Android </a:t>
            </a:r>
            <a:r>
              <a:rPr lang="en-GB" dirty="0" err="1"/>
              <a:t>utiliza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modelo</a:t>
            </a:r>
            <a:r>
              <a:rPr lang="en-GB" dirty="0"/>
              <a:t> para </a:t>
            </a:r>
            <a:r>
              <a:rPr lang="en-GB" dirty="0" err="1"/>
              <a:t>executar</a:t>
            </a:r>
            <a:r>
              <a:rPr lang="en-GB" dirty="0"/>
              <a:t> </a:t>
            </a:r>
            <a:r>
              <a:rPr lang="en-GB" dirty="0" err="1"/>
              <a:t>inferência</a:t>
            </a:r>
            <a:r>
              <a:rPr lang="en-GB" dirty="0"/>
              <a:t> local </a:t>
            </a:r>
            <a:r>
              <a:rPr lang="en-GB" dirty="0" err="1"/>
              <a:t>através</a:t>
            </a:r>
            <a:r>
              <a:rPr lang="en-GB" dirty="0"/>
              <a:t> de ONNX Runtime, </a:t>
            </a:r>
            <a:r>
              <a:rPr lang="en-GB" dirty="0" err="1"/>
              <a:t>sem</a:t>
            </a:r>
            <a:r>
              <a:rPr lang="en-GB" dirty="0"/>
              <a:t> </a:t>
            </a:r>
            <a:r>
              <a:rPr lang="en-GB" dirty="0" err="1"/>
              <a:t>necessidade</a:t>
            </a:r>
            <a:r>
              <a:rPr lang="en-GB" dirty="0"/>
              <a:t> de Python </a:t>
            </a:r>
            <a:r>
              <a:rPr lang="en-GB" dirty="0" err="1"/>
              <a:t>ou</a:t>
            </a:r>
            <a:r>
              <a:rPr lang="en-GB" dirty="0"/>
              <a:t> Stable-Baselines3.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6698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64D564-A21A-AE0B-1B1B-17A67EB9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6" y="1844756"/>
            <a:ext cx="2108233" cy="4602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7121B9-80EB-B80D-8249-4C937A596A51}"/>
              </a:ext>
            </a:extLst>
          </p:cNvPr>
          <p:cNvSpPr/>
          <p:nvPr/>
        </p:nvSpPr>
        <p:spPr>
          <a:xfrm>
            <a:off x="4431265" y="1900119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training_config.yaml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4014E-5ADF-A0D1-B4BC-D1B966BEC35B}"/>
              </a:ext>
            </a:extLst>
          </p:cNvPr>
          <p:cNvSpPr/>
          <p:nvPr/>
        </p:nvSpPr>
        <p:spPr>
          <a:xfrm>
            <a:off x="4431265" y="2788622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Model Checkpoints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C9872F-AF63-CCC3-CEA7-487346112D75}"/>
              </a:ext>
            </a:extLst>
          </p:cNvPr>
          <p:cNvSpPr/>
          <p:nvPr/>
        </p:nvSpPr>
        <p:spPr>
          <a:xfrm>
            <a:off x="4431265" y="5968952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Android Inference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AB3939-858E-2A69-55C6-4B95EA70F90B}"/>
              </a:ext>
            </a:extLst>
          </p:cNvPr>
          <p:cNvSpPr/>
          <p:nvPr/>
        </p:nvSpPr>
        <p:spPr>
          <a:xfrm>
            <a:off x="4431265" y="4553755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*.</a:t>
            </a:r>
            <a:r>
              <a:rPr lang="en-GB" dirty="0" err="1">
                <a:solidFill>
                  <a:schemeClr val="tx1"/>
                </a:solidFill>
              </a:rPr>
              <a:t>onnx</a:t>
            </a:r>
            <a:r>
              <a:rPr lang="en-GB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0BC405-9398-7AFB-1AA8-E9DF094F0E03}"/>
              </a:ext>
            </a:extLst>
          </p:cNvPr>
          <p:cNvSpPr/>
          <p:nvPr/>
        </p:nvSpPr>
        <p:spPr>
          <a:xfrm>
            <a:off x="4431265" y="5002330"/>
            <a:ext cx="2266950" cy="87363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 Copy ONNX to Android  =&gt; core/data/</a:t>
            </a:r>
            <a:r>
              <a:rPr lang="en-GB" dirty="0" err="1">
                <a:solidFill>
                  <a:schemeClr val="tx1"/>
                </a:solidFill>
              </a:rPr>
              <a:t>rl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717918-05CC-0851-31C5-EB6269BED190}"/>
              </a:ext>
            </a:extLst>
          </p:cNvPr>
          <p:cNvSpPr/>
          <p:nvPr/>
        </p:nvSpPr>
        <p:spPr>
          <a:xfrm>
            <a:off x="4431265" y="4113871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export_onnx.py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A63246-C3A5-F134-5411-DEA02349CD0E}"/>
              </a:ext>
            </a:extLst>
          </p:cNvPr>
          <p:cNvSpPr/>
          <p:nvPr/>
        </p:nvSpPr>
        <p:spPr>
          <a:xfrm>
            <a:off x="4422556" y="3665290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Select Best Model 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78F82E-E7E8-4A79-339A-9776861E5413}"/>
              </a:ext>
            </a:extLst>
          </p:cNvPr>
          <p:cNvSpPr/>
          <p:nvPr/>
        </p:nvSpPr>
        <p:spPr>
          <a:xfrm>
            <a:off x="4431265" y="2341795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Train PPO / DQN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BA05AA-C636-8A29-F89F-D762341B97AF}"/>
              </a:ext>
            </a:extLst>
          </p:cNvPr>
          <p:cNvSpPr/>
          <p:nvPr/>
        </p:nvSpPr>
        <p:spPr>
          <a:xfrm>
            <a:off x="4431265" y="3226954"/>
            <a:ext cx="2266950" cy="3556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Evaluate Models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CD213E69-37C1-3705-DBE8-4B6059BDD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189"/>
            <a:ext cx="10515600" cy="1325563"/>
          </a:xfrm>
        </p:spPr>
        <p:txBody>
          <a:bodyPr/>
          <a:lstStyle/>
          <a:p>
            <a:r>
              <a:rPr lang="en-GB" b="1" dirty="0"/>
              <a:t>Reinforcement Learning Files, </a:t>
            </a:r>
            <a:r>
              <a:rPr lang="en-GB" b="1" dirty="0" err="1"/>
              <a:t>Pipline</a:t>
            </a:r>
            <a:r>
              <a:rPr lang="en-GB" b="1" dirty="0"/>
              <a:t>, Technology Stack</a:t>
            </a:r>
            <a:endParaRPr lang="en-GB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969CDC54-10FB-780E-299F-45E736AD8B76}"/>
              </a:ext>
            </a:extLst>
          </p:cNvPr>
          <p:cNvSpPr/>
          <p:nvPr/>
        </p:nvSpPr>
        <p:spPr>
          <a:xfrm>
            <a:off x="6780000" y="1900119"/>
            <a:ext cx="566729" cy="4424433"/>
          </a:xfrm>
          <a:prstGeom prst="downArrow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C33560-6B34-97AA-6C31-82C1EA8BC226}"/>
              </a:ext>
            </a:extLst>
          </p:cNvPr>
          <p:cNvSpPr txBox="1"/>
          <p:nvPr/>
        </p:nvSpPr>
        <p:spPr>
          <a:xfrm rot="5400000">
            <a:off x="5983356" y="3683964"/>
            <a:ext cx="21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End-to-End Pipeline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7B743B-DD2D-ADB7-42A6-AEC3A6045A59}"/>
              </a:ext>
            </a:extLst>
          </p:cNvPr>
          <p:cNvSpPr txBox="1"/>
          <p:nvPr/>
        </p:nvSpPr>
        <p:spPr>
          <a:xfrm>
            <a:off x="8241590" y="1973411"/>
            <a:ext cx="28798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Technology Stack:</a:t>
            </a:r>
          </a:p>
          <a:p>
            <a:pPr lvl="1"/>
            <a:r>
              <a:rPr lang="en-GB" dirty="0"/>
              <a:t>Python 3.x</a:t>
            </a:r>
          </a:p>
          <a:p>
            <a:pPr lvl="1"/>
            <a:r>
              <a:rPr lang="en-GB" dirty="0"/>
              <a:t>Stable-Baselines3</a:t>
            </a:r>
          </a:p>
          <a:p>
            <a:pPr lvl="1"/>
            <a:r>
              <a:rPr lang="en-GB" dirty="0" err="1"/>
              <a:t>PyTorch</a:t>
            </a:r>
            <a:endParaRPr lang="en-GB" dirty="0"/>
          </a:p>
          <a:p>
            <a:pPr lvl="1"/>
            <a:r>
              <a:rPr lang="en-GB" dirty="0"/>
              <a:t>Gymnasium</a:t>
            </a:r>
          </a:p>
          <a:p>
            <a:pPr lvl="1"/>
            <a:r>
              <a:rPr lang="en-GB" dirty="0"/>
              <a:t>ONNX</a:t>
            </a:r>
          </a:p>
          <a:p>
            <a:pPr lvl="1"/>
            <a:r>
              <a:rPr lang="en-GB" dirty="0"/>
              <a:t>ONNX Runtime</a:t>
            </a:r>
          </a:p>
          <a:p>
            <a:pPr lvl="1"/>
            <a:r>
              <a:rPr lang="en-GB" dirty="0"/>
              <a:t>Android</a:t>
            </a:r>
          </a:p>
          <a:p>
            <a:pPr lvl="1"/>
            <a:r>
              <a:rPr lang="en-GB" dirty="0"/>
              <a:t>Kotlin</a:t>
            </a:r>
          </a:p>
          <a:p>
            <a:pPr lvl="1"/>
            <a:r>
              <a:rPr lang="en-GB" dirty="0"/>
              <a:t>ONNX Runtime Mobile</a:t>
            </a:r>
          </a:p>
        </p:txBody>
      </p:sp>
    </p:spTree>
    <p:extLst>
      <p:ext uri="{BB962C8B-B14F-4D97-AF65-F5344CB8AC3E}">
        <p14:creationId xmlns:p14="http://schemas.microsoft.com/office/powerpoint/2010/main" val="1685430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D863-43DA-0F94-E894-D2B52070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6D3FE-C19C-C741-894C-7A6167061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58" y="1857374"/>
            <a:ext cx="2343428" cy="346256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0517F57-BFA5-87D4-54CF-4A1DB0C1BF74}"/>
              </a:ext>
            </a:extLst>
          </p:cNvPr>
          <p:cNvSpPr/>
          <p:nvPr/>
        </p:nvSpPr>
        <p:spPr>
          <a:xfrm>
            <a:off x="1562099" y="3080778"/>
            <a:ext cx="1737187" cy="301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4A8B86E-6390-554B-2002-81BEC5A8E58E}"/>
              </a:ext>
            </a:extLst>
          </p:cNvPr>
          <p:cNvSpPr/>
          <p:nvPr/>
        </p:nvSpPr>
        <p:spPr>
          <a:xfrm>
            <a:off x="2699766" y="2709782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5C33A6-0474-3B67-3733-D4717E1F32FA}"/>
              </a:ext>
            </a:extLst>
          </p:cNvPr>
          <p:cNvSpPr txBox="1"/>
          <p:nvPr/>
        </p:nvSpPr>
        <p:spPr>
          <a:xfrm>
            <a:off x="221303" y="5702412"/>
            <a:ext cx="4374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 – Modelo </a:t>
            </a:r>
            <a:r>
              <a:rPr lang="en-GB" dirty="0" err="1"/>
              <a:t>treinado</a:t>
            </a:r>
            <a:endParaRPr lang="en-GB" dirty="0"/>
          </a:p>
          <a:p>
            <a:r>
              <a:rPr lang="en-GB" dirty="0"/>
              <a:t>2 – Load do </a:t>
            </a:r>
            <a:r>
              <a:rPr lang="en-GB" dirty="0" err="1"/>
              <a:t>modelo</a:t>
            </a:r>
            <a:r>
              <a:rPr lang="en-GB" dirty="0"/>
              <a:t> e </a:t>
            </a:r>
            <a:r>
              <a:rPr lang="en-GB" dirty="0" err="1"/>
              <a:t>criação</a:t>
            </a:r>
            <a:r>
              <a:rPr lang="en-GB" dirty="0"/>
              <a:t> do </a:t>
            </a:r>
            <a:r>
              <a:rPr lang="en-GB" dirty="0" err="1"/>
              <a:t>ambiente</a:t>
            </a:r>
            <a:endParaRPr lang="en-GB" dirty="0"/>
          </a:p>
          <a:p>
            <a:r>
              <a:rPr lang="en-GB" dirty="0"/>
              <a:t>3 – </a:t>
            </a:r>
            <a:r>
              <a:rPr lang="en-GB" dirty="0" err="1"/>
              <a:t>Invocação</a:t>
            </a:r>
            <a:r>
              <a:rPr lang="en-GB" dirty="0"/>
              <a:t> do </a:t>
            </a:r>
            <a:r>
              <a:rPr lang="en-GB" dirty="0" err="1"/>
              <a:t>modelo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41829-50A4-2613-0252-AAA199E40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1945459"/>
            <a:ext cx="6231562" cy="38947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BDC714-5F70-381F-8A80-855174656B71}"/>
              </a:ext>
            </a:extLst>
          </p:cNvPr>
          <p:cNvSpPr/>
          <p:nvPr/>
        </p:nvSpPr>
        <p:spPr>
          <a:xfrm>
            <a:off x="6023506" y="3571875"/>
            <a:ext cx="6056405" cy="781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EC8ACB-E1A1-D31A-ABF9-0A7A7F34A408}"/>
              </a:ext>
            </a:extLst>
          </p:cNvPr>
          <p:cNvSpPr/>
          <p:nvPr/>
        </p:nvSpPr>
        <p:spPr>
          <a:xfrm>
            <a:off x="11453241" y="3255276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301EA-041E-EB91-F5AE-C3F0D3F1D3C6}"/>
              </a:ext>
            </a:extLst>
          </p:cNvPr>
          <p:cNvSpPr/>
          <p:nvPr/>
        </p:nvSpPr>
        <p:spPr>
          <a:xfrm>
            <a:off x="6023506" y="4416296"/>
            <a:ext cx="4282543" cy="142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EE2D0D-1A63-360D-42CA-3721BB03BB39}"/>
              </a:ext>
            </a:extLst>
          </p:cNvPr>
          <p:cNvSpPr/>
          <p:nvPr/>
        </p:nvSpPr>
        <p:spPr>
          <a:xfrm>
            <a:off x="10334901" y="5018187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Title 25">
            <a:extLst>
              <a:ext uri="{FF2B5EF4-FFF2-40B4-BE49-F238E27FC236}">
                <a16:creationId xmlns:a16="http://schemas.microsoft.com/office/drawing/2014/main" id="{72693AD6-B10F-A328-3E31-877D0D3D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189"/>
            <a:ext cx="10515600" cy="1325563"/>
          </a:xfrm>
        </p:spPr>
        <p:txBody>
          <a:bodyPr/>
          <a:lstStyle/>
          <a:p>
            <a:r>
              <a:rPr lang="en-GB" b="1" dirty="0"/>
              <a:t>Reinforcement Learning Android implementation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76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45E9C9-03CA-E310-16E1-409601EFD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026" y="2047875"/>
            <a:ext cx="6342935" cy="43161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31DE681-D52A-81B9-A07E-7AC52E16B5BB}"/>
              </a:ext>
            </a:extLst>
          </p:cNvPr>
          <p:cNvSpPr txBox="1"/>
          <p:nvPr/>
        </p:nvSpPr>
        <p:spPr>
          <a:xfrm>
            <a:off x="326078" y="5473253"/>
            <a:ext cx="4683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 – </a:t>
            </a:r>
            <a:r>
              <a:rPr lang="en-GB" dirty="0" err="1"/>
              <a:t>Captura</a:t>
            </a:r>
            <a:r>
              <a:rPr lang="en-GB" dirty="0"/>
              <a:t> de </a:t>
            </a:r>
            <a:r>
              <a:rPr lang="en-GB" dirty="0" err="1"/>
              <a:t>evento</a:t>
            </a:r>
            <a:r>
              <a:rPr lang="en-GB" dirty="0"/>
              <a:t> e </a:t>
            </a:r>
            <a:r>
              <a:rPr lang="en-GB" dirty="0" err="1"/>
              <a:t>invocação</a:t>
            </a:r>
            <a:r>
              <a:rPr lang="en-GB" dirty="0"/>
              <a:t> do </a:t>
            </a:r>
            <a:r>
              <a:rPr lang="en-GB" dirty="0" err="1"/>
              <a:t>modelo</a:t>
            </a:r>
            <a:endParaRPr lang="en-GB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EF50546-0C38-0B76-0D88-1A46949DC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5364"/>
            <a:ext cx="1965786" cy="290457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5C8DD1B-D919-ECC9-D6E2-1FAE5777091F}"/>
              </a:ext>
            </a:extLst>
          </p:cNvPr>
          <p:cNvSpPr/>
          <p:nvPr/>
        </p:nvSpPr>
        <p:spPr>
          <a:xfrm>
            <a:off x="1838324" y="3903747"/>
            <a:ext cx="829613" cy="230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6CBA6FF-0AF5-E532-3FA8-183DBB462196}"/>
              </a:ext>
            </a:extLst>
          </p:cNvPr>
          <p:cNvSpPr/>
          <p:nvPr/>
        </p:nvSpPr>
        <p:spPr>
          <a:xfrm>
            <a:off x="2696512" y="3780207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" name="Title 25">
            <a:extLst>
              <a:ext uri="{FF2B5EF4-FFF2-40B4-BE49-F238E27FC236}">
                <a16:creationId xmlns:a16="http://schemas.microsoft.com/office/drawing/2014/main" id="{C5D6AFC8-C46B-3C4C-DDA9-3904F568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189"/>
            <a:ext cx="10515600" cy="1325563"/>
          </a:xfrm>
        </p:spPr>
        <p:txBody>
          <a:bodyPr/>
          <a:lstStyle/>
          <a:p>
            <a:r>
              <a:rPr lang="en-GB" b="1" dirty="0"/>
              <a:t>Reinforcement Learning Android implementation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0361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8392B9E-E86C-CDCD-D961-E1894F997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109" y="3414257"/>
            <a:ext cx="3793033" cy="3337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98D77E-948C-FBFE-E937-74AE0A828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109" y="1832890"/>
            <a:ext cx="5220953" cy="15378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666373-89B4-6644-115A-5CA1696DC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005" y="148382"/>
            <a:ext cx="5220953" cy="163317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834F66B-8048-D2D0-1E5E-1C771D7DAA87}"/>
              </a:ext>
            </a:extLst>
          </p:cNvPr>
          <p:cNvSpPr/>
          <p:nvPr/>
        </p:nvSpPr>
        <p:spPr>
          <a:xfrm>
            <a:off x="6898005" y="147804"/>
            <a:ext cx="5217057" cy="1633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9AE7A9-2A4E-6CB4-3D80-955BC1B80474}"/>
              </a:ext>
            </a:extLst>
          </p:cNvPr>
          <p:cNvSpPr/>
          <p:nvPr/>
        </p:nvSpPr>
        <p:spPr>
          <a:xfrm>
            <a:off x="11051851" y="2659888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A48C86-2165-9E4D-EE38-20AC1FC57447}"/>
              </a:ext>
            </a:extLst>
          </p:cNvPr>
          <p:cNvSpPr/>
          <p:nvPr/>
        </p:nvSpPr>
        <p:spPr>
          <a:xfrm>
            <a:off x="11051851" y="1333784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466694-F420-A187-A6B5-6C0568AE27F4}"/>
              </a:ext>
            </a:extLst>
          </p:cNvPr>
          <p:cNvSpPr/>
          <p:nvPr/>
        </p:nvSpPr>
        <p:spPr>
          <a:xfrm>
            <a:off x="6898005" y="1842415"/>
            <a:ext cx="5217056" cy="1522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18198F-3DE1-94F3-0203-9AFC750DE12D}"/>
              </a:ext>
            </a:extLst>
          </p:cNvPr>
          <p:cNvSpPr/>
          <p:nvPr/>
        </p:nvSpPr>
        <p:spPr>
          <a:xfrm>
            <a:off x="6898005" y="3425455"/>
            <a:ext cx="3789137" cy="3337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B18DD5-01BB-0948-5389-DB88FC00474C}"/>
              </a:ext>
            </a:extLst>
          </p:cNvPr>
          <p:cNvSpPr/>
          <p:nvPr/>
        </p:nvSpPr>
        <p:spPr>
          <a:xfrm>
            <a:off x="10127926" y="3575272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2E2AF8-98FE-AAB0-6515-6243E2A7EE0D}"/>
              </a:ext>
            </a:extLst>
          </p:cNvPr>
          <p:cNvSpPr txBox="1"/>
          <p:nvPr/>
        </p:nvSpPr>
        <p:spPr>
          <a:xfrm>
            <a:off x="221303" y="5702412"/>
            <a:ext cx="4374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– </a:t>
            </a:r>
            <a:r>
              <a:rPr lang="en-GB" dirty="0" err="1"/>
              <a:t>Invocação</a:t>
            </a:r>
            <a:r>
              <a:rPr lang="en-GB" dirty="0"/>
              <a:t> do </a:t>
            </a:r>
            <a:r>
              <a:rPr lang="en-GB" dirty="0" err="1"/>
              <a:t>modelo</a:t>
            </a:r>
            <a:endParaRPr lang="en-GB" dirty="0"/>
          </a:p>
          <a:p>
            <a:r>
              <a:rPr lang="en-GB" dirty="0"/>
              <a:t>5 – </a:t>
            </a:r>
            <a:r>
              <a:rPr lang="en-GB" dirty="0" err="1"/>
              <a:t>Resultado</a:t>
            </a:r>
            <a:r>
              <a:rPr lang="en-GB" dirty="0"/>
              <a:t> da </a:t>
            </a:r>
            <a:r>
              <a:rPr lang="en-GB" dirty="0" err="1"/>
              <a:t>Inferência</a:t>
            </a:r>
            <a:endParaRPr lang="en-GB" dirty="0"/>
          </a:p>
          <a:p>
            <a:r>
              <a:rPr lang="en-GB" dirty="0"/>
              <a:t>6 – Dados a </a:t>
            </a:r>
            <a:r>
              <a:rPr lang="en-GB" dirty="0" err="1"/>
              <a:t>apresentar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FD71B5-FD54-6A04-0D0B-33D0658E59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295" y="2324418"/>
            <a:ext cx="1907396" cy="4151393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F758AFB8-8A8F-5DAA-9F43-E3ED2B3E7652}"/>
              </a:ext>
            </a:extLst>
          </p:cNvPr>
          <p:cNvSpPr/>
          <p:nvPr/>
        </p:nvSpPr>
        <p:spPr>
          <a:xfrm>
            <a:off x="4723198" y="3868422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6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EB7F7F1-0DF6-2616-7035-18D6EECDDB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480" y="2528841"/>
            <a:ext cx="2714653" cy="27146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2831C308-14F6-912F-992D-842BA8259FB5}"/>
              </a:ext>
            </a:extLst>
          </p:cNvPr>
          <p:cNvSpPr/>
          <p:nvPr/>
        </p:nvSpPr>
        <p:spPr>
          <a:xfrm>
            <a:off x="2476776" y="4819125"/>
            <a:ext cx="292608" cy="301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" name="Title 25">
            <a:extLst>
              <a:ext uri="{FF2B5EF4-FFF2-40B4-BE49-F238E27FC236}">
                <a16:creationId xmlns:a16="http://schemas.microsoft.com/office/drawing/2014/main" id="{6CB733E0-FBC7-6C1E-5555-3D7947AF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189"/>
            <a:ext cx="10515600" cy="1325563"/>
          </a:xfrm>
        </p:spPr>
        <p:txBody>
          <a:bodyPr/>
          <a:lstStyle/>
          <a:p>
            <a:r>
              <a:rPr lang="en-GB" b="1" dirty="0"/>
              <a:t>Reinforcement Learning </a:t>
            </a:r>
            <a:br>
              <a:rPr lang="en-GB" b="1" dirty="0"/>
            </a:br>
            <a:r>
              <a:rPr lang="en-GB" b="1" dirty="0"/>
              <a:t>Android visualization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619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1367</Words>
  <Application>Microsoft Office PowerPoint</Application>
  <PresentationFormat>Widescreen</PresentationFormat>
  <Paragraphs>210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-apple-system</vt:lpstr>
      <vt:lpstr>Aptos</vt:lpstr>
      <vt:lpstr>Aptos Display</vt:lpstr>
      <vt:lpstr>Arial</vt:lpstr>
      <vt:lpstr>Times New Roman</vt:lpstr>
      <vt:lpstr>Office Theme</vt:lpstr>
      <vt:lpstr>Dance4Life Envelhecimento activo Aprendizagem por Reforço-</vt:lpstr>
      <vt:lpstr>Dance4Life Reinforcement Learning Coach</vt:lpstr>
      <vt:lpstr>Reinforcement Learning Concepts</vt:lpstr>
      <vt:lpstr>Reinforcement Learning Implementation</vt:lpstr>
      <vt:lpstr>Supported Algorithms</vt:lpstr>
      <vt:lpstr>Training Configuration (training_config.yaml)</vt:lpstr>
      <vt:lpstr>Training Configuration (training_config.yaml)</vt:lpstr>
      <vt:lpstr>Training Configuration (training_config.yaml)</vt:lpstr>
      <vt:lpstr>Training</vt:lpstr>
      <vt:lpstr>Evaluation</vt:lpstr>
      <vt:lpstr>ONNX Export/Android Integration</vt:lpstr>
      <vt:lpstr>Reinforcement Learning Files, Pipline, Technology Stack</vt:lpstr>
      <vt:lpstr>Reinforcement Learning Android implementation</vt:lpstr>
      <vt:lpstr>Reinforcement Learning Android implementation</vt:lpstr>
      <vt:lpstr>Reinforcement Learning  Android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Manuel Martins Marques Rodrigues</dc:creator>
  <cp:lastModifiedBy>Rui Manuel Martins Marques Rodrigues</cp:lastModifiedBy>
  <cp:revision>6</cp:revision>
  <dcterms:created xsi:type="dcterms:W3CDTF">2026-05-30T12:21:59Z</dcterms:created>
  <dcterms:modified xsi:type="dcterms:W3CDTF">2026-06-01T22:48:23Z</dcterms:modified>
</cp:coreProperties>
</file>
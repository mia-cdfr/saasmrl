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6" r:id="rId3"/>
    <p:sldId id="267" r:id="rId4"/>
    <p:sldId id="268" r:id="rId5"/>
    <p:sldId id="269" r:id="rId6"/>
    <p:sldId id="270" r:id="rId7"/>
    <p:sldId id="271" r:id="rId8"/>
    <p:sldId id="273" r:id="rId9"/>
    <p:sldId id="272" r:id="rId10"/>
    <p:sldId id="274" r:id="rId11"/>
    <p:sldId id="262" r:id="rId12"/>
    <p:sldId id="265" r:id="rId13"/>
    <p:sldId id="261" r:id="rId14"/>
    <p:sldId id="264" r:id="rId15"/>
    <p:sldId id="257" r:id="rId16"/>
    <p:sldId id="263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91" d="100"/>
          <a:sy n="91" d="100"/>
        </p:scale>
        <p:origin x="108" y="14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858313-6DF3-EA75-DF6C-2584F287C2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32A9633-9DFD-117D-3602-7376C8062A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08FFDE-08E8-9F39-9CF4-23ADFB4D6E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71322A-ABF9-4314-B9EE-0B625A982925}" type="datetimeFigureOut">
              <a:rPr lang="en-GB" smtClean="0"/>
              <a:t>30/05/2026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834487-E5E4-C86A-FC10-870B0999CF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30E5BE-C2A1-EF82-4557-4FAA244B0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9EF6EE-B007-4E76-B5E3-D70C240FC3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79224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A594F7-0D63-1EE0-46E6-8651F6170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E60176-0489-3EAB-6E78-288B2C8860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6DCF42-F739-4F2E-0DC1-7681EB9ADC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71322A-ABF9-4314-B9EE-0B625A982925}" type="datetimeFigureOut">
              <a:rPr lang="en-GB" smtClean="0"/>
              <a:t>30/05/2026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141686-0E97-6D3A-4FF3-83AD00AA64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A06961-E342-BCEF-2B8E-BAD8C4E16F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9EF6EE-B007-4E76-B5E3-D70C240FC3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583216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1A1852-A7C6-A4A4-C16F-1FEEAC9AA5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C3D141-41F7-186F-0963-A843838555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F86335-A3DC-597F-B4EF-86D33E3E86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71322A-ABF9-4314-B9EE-0B625A982925}" type="datetimeFigureOut">
              <a:rPr lang="en-GB" smtClean="0"/>
              <a:t>30/05/2026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322613-2CAA-0B70-A902-714BAD284C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D3E3CD-943F-356D-C839-4519FD6668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9EF6EE-B007-4E76-B5E3-D70C240FC3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04172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662DA9-6283-6A18-B694-DE74756F2F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BD083A-6944-181C-EC0C-35F5B01CB20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37A620A-FC22-1F03-9691-E095ABA766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81BE48-C290-C238-BCFC-64401F664B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71322A-ABF9-4314-B9EE-0B625A982925}" type="datetimeFigureOut">
              <a:rPr lang="en-GB" smtClean="0"/>
              <a:t>30/05/2026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F6F764A-CD07-6306-9EB9-384BF9B8D3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1705B7-DF4A-1ED9-1EB6-F3618F0035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9EF6EE-B007-4E76-B5E3-D70C240FC3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57280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03520C-211D-EADC-3009-378940EAD8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B07BAF-5E49-D507-7D8E-AA2398BBCF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960ABF-BF51-11F3-AA35-71464D07CC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0CC8FA1-C0EC-ACFB-14C3-0FE51EB5716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2B7382-7310-8CF8-446F-07C6C1405E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6223FD-168F-4D27-EDE1-F97AC7B8D6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71322A-ABF9-4314-B9EE-0B625A982925}" type="datetimeFigureOut">
              <a:rPr lang="en-GB" smtClean="0"/>
              <a:t>30/05/2026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15C2B34-A1D9-93B2-EA9A-E130A31344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8087D55-C6BA-3EBC-3958-FC1D045A6A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9EF6EE-B007-4E76-B5E3-D70C240FC3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499177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EBCB29-921D-22E5-91C5-879CE5BBA7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D74BC03-09D7-12A3-995E-1E2E026EB1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71322A-ABF9-4314-B9EE-0B625A982925}" type="datetimeFigureOut">
              <a:rPr lang="en-GB" smtClean="0"/>
              <a:t>30/05/2026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F6FE758-ADA3-D43E-88B8-BE60F730EB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40C040-D78B-A3C6-7F5B-1FDC9A3332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9EF6EE-B007-4E76-B5E3-D70C240FC3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69231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5EB3102-D711-AA67-F99D-D9ADF245C0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71322A-ABF9-4314-B9EE-0B625A982925}" type="datetimeFigureOut">
              <a:rPr lang="en-GB" smtClean="0"/>
              <a:t>30/05/2026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94E995E-1115-9AB0-BEC3-0D71D0E790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AAE571-323E-0621-0597-BEE8CEFAD7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9EF6EE-B007-4E76-B5E3-D70C240FC3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21763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FBFDE-692D-1313-E87B-BCFC971815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FD9946-67B7-6DDF-1584-84DC9D140F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E7FA06-3377-84B2-C262-162EB0AC1C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600A0E-DB95-6E20-ECE0-F756484ED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71322A-ABF9-4314-B9EE-0B625A982925}" type="datetimeFigureOut">
              <a:rPr lang="en-GB" smtClean="0"/>
              <a:t>30/05/2026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EB4C405-338C-9738-A48A-BCF824801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5F5738-61F5-3F80-A238-37DA9EE23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9EF6EE-B007-4E76-B5E3-D70C240FC3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57583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D70326-742D-BFF6-85D1-28CCCF6C9B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1A588BD-89FB-510B-8E44-0275E0A5A96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39FD24-6DC7-22FC-EC22-F942DC48A8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E56C33-806D-1B7B-06FD-08F9DDDA54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71322A-ABF9-4314-B9EE-0B625A982925}" type="datetimeFigureOut">
              <a:rPr lang="en-GB" smtClean="0"/>
              <a:t>30/05/2026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320843-A3B7-697D-3DF2-4BC9BC667B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25D26C-3C1B-B6FA-CD4A-2A69CA3BC7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9EF6EE-B007-4E76-B5E3-D70C240FC3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13831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AC4089-0024-38E9-7772-E75E4EFFE0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57A9CBB-7806-38C3-8B0E-E996851B07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2B67A8-C991-696A-4663-E6C48AAD5A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71322A-ABF9-4314-B9EE-0B625A982925}" type="datetimeFigureOut">
              <a:rPr lang="en-GB" smtClean="0"/>
              <a:t>30/05/2026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1E4955-92D6-D7A3-6BAB-DA0E103AF3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51C68F-ABED-C81D-A7F8-314AF0285B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9EF6EE-B007-4E76-B5E3-D70C240FC3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94270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C16D55A-B85E-850B-D151-FC0BB330CC2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8DAC63E-6553-2B6D-3EB6-0564388C0F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2EFD5B-33A5-835F-011E-31003395B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71322A-ABF9-4314-B9EE-0B625A982925}" type="datetimeFigureOut">
              <a:rPr lang="en-GB" smtClean="0"/>
              <a:t>30/05/2026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FE32AC-76C6-E3A2-7516-D248B7C893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4A1F2C-9B1B-39C4-795F-2190EB6D31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9EF6EE-B007-4E76-B5E3-D70C240FC3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55554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E923A27-F1C8-6541-2F81-FBD8182E2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3103ED-0CD5-74F8-9952-6362370979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D5CAF5-3406-2046-5153-BAA1EF6238B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C71322A-ABF9-4314-B9EE-0B625A982925}" type="datetimeFigureOut">
              <a:rPr lang="en-GB" smtClean="0"/>
              <a:t>30/05/2026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570FBE-461A-07E8-2239-30B39D3B609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1CC256-B5C7-4DDE-BF98-21CF10D883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29EF6EE-B007-4E76-B5E3-D70C240FC3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48325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11106FD-301A-837C-6A65-B26753D412DD}"/>
              </a:ext>
            </a:extLst>
          </p:cNvPr>
          <p:cNvSpPr/>
          <p:nvPr/>
        </p:nvSpPr>
        <p:spPr>
          <a:xfrm>
            <a:off x="864158" y="2130250"/>
            <a:ext cx="2411605" cy="10651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Treino</a:t>
            </a:r>
            <a:endParaRPr lang="en-GB" dirty="0"/>
          </a:p>
          <a:p>
            <a:pPr algn="ctr"/>
            <a:r>
              <a:rPr lang="en-GB" dirty="0"/>
              <a:t>PPO/DQN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ED818E8-1CBF-D850-DE5D-7013CE255331}"/>
              </a:ext>
            </a:extLst>
          </p:cNvPr>
          <p:cNvSpPr/>
          <p:nvPr/>
        </p:nvSpPr>
        <p:spPr>
          <a:xfrm>
            <a:off x="3758084" y="2130250"/>
            <a:ext cx="2773345" cy="10651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Export</a:t>
            </a:r>
          </a:p>
          <a:p>
            <a:pPr algn="ctr"/>
            <a:r>
              <a:rPr lang="en-GB" dirty="0"/>
              <a:t>PPO/DQN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FF74502-96DE-AFC9-05F7-200D8376AF71}"/>
              </a:ext>
            </a:extLst>
          </p:cNvPr>
          <p:cNvSpPr/>
          <p:nvPr/>
        </p:nvSpPr>
        <p:spPr>
          <a:xfrm>
            <a:off x="864158" y="954593"/>
            <a:ext cx="5707464" cy="10651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Python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3315B09-BFE3-8780-31B3-D9232F990961}"/>
              </a:ext>
            </a:extLst>
          </p:cNvPr>
          <p:cNvSpPr/>
          <p:nvPr/>
        </p:nvSpPr>
        <p:spPr>
          <a:xfrm>
            <a:off x="6861350" y="2130249"/>
            <a:ext cx="2411605" cy="10651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Inferência</a:t>
            </a:r>
            <a:endParaRPr lang="en-GB" dirty="0"/>
          </a:p>
          <a:p>
            <a:pPr algn="ctr"/>
            <a:r>
              <a:rPr lang="en-GB" dirty="0"/>
              <a:t>PPO/DQN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B8CD537-761D-523F-8ABE-6E45C76F07BE}"/>
              </a:ext>
            </a:extLst>
          </p:cNvPr>
          <p:cNvSpPr/>
          <p:nvPr/>
        </p:nvSpPr>
        <p:spPr>
          <a:xfrm>
            <a:off x="6861350" y="954593"/>
            <a:ext cx="2411605" cy="10651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Kotlin/Android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44FDE89-6A92-5040-2CB5-A61D64DAAD0B}"/>
              </a:ext>
            </a:extLst>
          </p:cNvPr>
          <p:cNvSpPr/>
          <p:nvPr/>
        </p:nvSpPr>
        <p:spPr>
          <a:xfrm>
            <a:off x="864158" y="3429000"/>
            <a:ext cx="2441750" cy="7611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ZIP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1D0CEEE-B229-996C-BCD7-E17F822B7333}"/>
              </a:ext>
            </a:extLst>
          </p:cNvPr>
          <p:cNvSpPr/>
          <p:nvPr/>
        </p:nvSpPr>
        <p:spPr>
          <a:xfrm>
            <a:off x="3758083" y="3428999"/>
            <a:ext cx="2773345" cy="7611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ONXX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CDE4589-DB79-4648-43AB-3C101C791D3E}"/>
              </a:ext>
            </a:extLst>
          </p:cNvPr>
          <p:cNvSpPr/>
          <p:nvPr/>
        </p:nvSpPr>
        <p:spPr>
          <a:xfrm>
            <a:off x="6861350" y="3428999"/>
            <a:ext cx="2411605" cy="7611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ONXX</a:t>
            </a:r>
          </a:p>
        </p:txBody>
      </p:sp>
    </p:spTree>
    <p:extLst>
      <p:ext uri="{BB962C8B-B14F-4D97-AF65-F5344CB8AC3E}">
        <p14:creationId xmlns:p14="http://schemas.microsoft.com/office/powerpoint/2010/main" val="34694025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93FF93-A4C8-59C1-16E4-6134017BAC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Dance4Life Reinforcement Learning Coach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1E1699-CF9C-A65F-A165-B105A70DCD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Este projeto implementa um sistema de </a:t>
            </a:r>
            <a:r>
              <a:rPr lang="pt-B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Reinforcement Learning (RL)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para o ecossistema Dance4Life, permitindo treinar agentes inteligentes capazes de adaptar intervenções de coaching com o objetivo de aumentar a atividade física dos utilizadores sem provocar níveis excessivos de fadiga ou irritação.</a:t>
            </a:r>
          </a:p>
          <a:p>
            <a:pPr marL="0" indent="0">
              <a:buNone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O projeto suporta dois algoritmos de Reinforcement Learning:</a:t>
            </a:r>
          </a:p>
          <a:p>
            <a:pPr lvl="1"/>
            <a:r>
              <a:rPr lang="pt-B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PPO (Proximal Policy Optimization)</a:t>
            </a:r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pt-B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DQN (Deep Q-Network)</a:t>
            </a:r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Após o treino, os modelos podem ser exportados para </a:t>
            </a:r>
            <a:r>
              <a:rPr lang="pt-B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ONNX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e integrados diretamente na aplicação Android para inferência local.</a:t>
            </a:r>
          </a:p>
        </p:txBody>
      </p:sp>
    </p:spTree>
    <p:extLst>
      <p:ext uri="{BB962C8B-B14F-4D97-AF65-F5344CB8AC3E}">
        <p14:creationId xmlns:p14="http://schemas.microsoft.com/office/powerpoint/2010/main" val="30877549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A656920-3FBE-CF31-E68D-10BB307FF0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Reinforcement Learning Concepts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23F16A5-4B23-7909-8493-AFEDD97D687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GB" b="1" dirty="0" err="1"/>
              <a:t>Agente</a:t>
            </a:r>
            <a:r>
              <a:rPr lang="en-GB" b="1" dirty="0"/>
              <a:t> </a:t>
            </a:r>
          </a:p>
          <a:p>
            <a:pPr lvl="1"/>
            <a:r>
              <a:rPr lang="pt-BR" dirty="0"/>
              <a:t>O agente é a entidade responsável por tomar decisões e executar ações</a:t>
            </a:r>
            <a:endParaRPr lang="en-GB" b="1" dirty="0"/>
          </a:p>
          <a:p>
            <a:pPr lvl="2"/>
            <a:r>
              <a:rPr lang="pt-BR" dirty="0"/>
              <a:t>No Dance4Life, o agente representa o sistema de coaching inteligente que decide qual o nível de intervenção mais adequado para o utilizador</a:t>
            </a:r>
          </a:p>
          <a:p>
            <a:pPr marL="0" indent="0">
              <a:buNone/>
            </a:pPr>
            <a:r>
              <a:rPr lang="en-GB" b="1" dirty="0" err="1"/>
              <a:t>Ambiente</a:t>
            </a:r>
            <a:r>
              <a:rPr lang="en-GB" b="1" dirty="0"/>
              <a:t> </a:t>
            </a:r>
          </a:p>
          <a:p>
            <a:pPr lvl="1"/>
            <a:r>
              <a:rPr lang="pt-BR" dirty="0"/>
              <a:t>O ambiente representa o mundo onde o agente opera</a:t>
            </a:r>
          </a:p>
          <a:p>
            <a:pPr lvl="1"/>
            <a:r>
              <a:rPr lang="pt-BR" dirty="0"/>
              <a:t>Sempre que o agente executa uma ação, o ambiente responde alterando o seu estado e devolvendo uma recompensa</a:t>
            </a:r>
          </a:p>
          <a:p>
            <a:pPr lvl="2"/>
            <a:r>
              <a:rPr lang="pt-BR" dirty="0"/>
              <a:t>No Dance4Life, o ambiente simula o comportamento de um utilizador ao longo do tempo</a:t>
            </a:r>
          </a:p>
          <a:p>
            <a:pPr marL="0" indent="0">
              <a:buNone/>
            </a:pPr>
            <a:r>
              <a:rPr lang="en-GB" b="1" dirty="0"/>
              <a:t>Estado </a:t>
            </a:r>
          </a:p>
          <a:p>
            <a:pPr lvl="1"/>
            <a:r>
              <a:rPr lang="pt-BR" dirty="0"/>
              <a:t>O estado representa a situação atual observada pelo agente</a:t>
            </a:r>
          </a:p>
          <a:p>
            <a:pPr lvl="1"/>
            <a:r>
              <a:rPr lang="pt-BR" dirty="0"/>
              <a:t>É a informação utilizada para decidir qual a próxima ação</a:t>
            </a:r>
          </a:p>
          <a:p>
            <a:pPr lvl="1"/>
            <a:r>
              <a:rPr lang="pt-BR" dirty="0"/>
              <a:t>O estado do ambiente é representado por:</a:t>
            </a:r>
          </a:p>
          <a:p>
            <a:pPr lvl="2"/>
            <a:r>
              <a:rPr lang="en-GB" dirty="0"/>
              <a:t>[</a:t>
            </a:r>
            <a:r>
              <a:rPr lang="en-GB" dirty="0" err="1"/>
              <a:t>activity_level</a:t>
            </a:r>
            <a:r>
              <a:rPr lang="en-GB" dirty="0"/>
              <a:t>, </a:t>
            </a:r>
            <a:r>
              <a:rPr lang="en-GB" dirty="0" err="1"/>
              <a:t>physical_fatigue</a:t>
            </a:r>
            <a:r>
              <a:rPr lang="en-GB" dirty="0"/>
              <a:t>, </a:t>
            </a:r>
            <a:r>
              <a:rPr lang="en-GB" dirty="0" err="1"/>
              <a:t>irritation_level</a:t>
            </a:r>
            <a:r>
              <a:rPr lang="en-GB" dirty="0"/>
              <a:t>] </a:t>
            </a:r>
            <a:r>
              <a:rPr lang="en-GB" dirty="0" err="1"/>
              <a:t>exemplo</a:t>
            </a:r>
            <a:r>
              <a:rPr lang="en-GB" dirty="0"/>
              <a:t> [6, 2, 1]</a:t>
            </a:r>
            <a:endParaRPr lang="en-GB" b="1" dirty="0"/>
          </a:p>
          <a:p>
            <a:pPr marL="0" indent="0">
              <a:buNone/>
            </a:pPr>
            <a:endParaRPr lang="en-GB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904A5D4-8AE2-3327-3204-A86DFCEB11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2257425"/>
          </a:xfrm>
        </p:spPr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GB" b="1" dirty="0" err="1"/>
              <a:t>Ação</a:t>
            </a:r>
            <a:endParaRPr lang="en-GB" b="1" dirty="0"/>
          </a:p>
          <a:p>
            <a:pPr lvl="1"/>
            <a:r>
              <a:rPr lang="pt-BR" dirty="0"/>
              <a:t>Uma ação corresponde a uma decisão tomada pelo agente</a:t>
            </a:r>
          </a:p>
          <a:p>
            <a:pPr lvl="1"/>
            <a:r>
              <a:rPr lang="pt-BR" dirty="0"/>
              <a:t>Após observar o estado atual, o agente escolhe uma ação que considera mais vantajosa</a:t>
            </a:r>
            <a:r>
              <a:rPr lang="en-GB" b="1" dirty="0"/>
              <a:t> </a:t>
            </a:r>
          </a:p>
          <a:p>
            <a:pPr marL="0" indent="0">
              <a:buNone/>
            </a:pPr>
            <a:r>
              <a:rPr lang="en-GB" b="1" dirty="0" err="1"/>
              <a:t>Recompensa</a:t>
            </a:r>
            <a:r>
              <a:rPr lang="en-GB" b="1" dirty="0"/>
              <a:t> </a:t>
            </a:r>
          </a:p>
          <a:p>
            <a:pPr lvl="1"/>
            <a:r>
              <a:rPr lang="pt-BR" dirty="0"/>
              <a:t>A recompensa é o feedback fornecido pelo ambiente após a execução de uma ação.</a:t>
            </a:r>
          </a:p>
          <a:p>
            <a:pPr lvl="1"/>
            <a:r>
              <a:rPr lang="pt-BR" dirty="0"/>
              <a:t>O objetivo do treino é maximizar a soma das recompensas recebidas ao longo do tempo</a:t>
            </a:r>
          </a:p>
          <a:p>
            <a:pPr lvl="1"/>
            <a:r>
              <a:rPr lang="pt-BR" dirty="0"/>
              <a:t>A recompensa funciona como um mecanismo de aprendizagem que orienta o agente para comportamentos desejáveis</a:t>
            </a:r>
            <a:endParaRPr lang="en-GB" b="1" dirty="0"/>
          </a:p>
          <a:p>
            <a:endParaRPr lang="en-GB" b="1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287947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69B69-EE5E-EDC9-EDA7-E244BA7E4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523F137-6771-F1AE-5FD5-E0CE977FF33C}"/>
              </a:ext>
            </a:extLst>
          </p:cNvPr>
          <p:cNvSpPr/>
          <p:nvPr/>
        </p:nvSpPr>
        <p:spPr>
          <a:xfrm>
            <a:off x="476250" y="2536825"/>
            <a:ext cx="1714500" cy="3365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Estado </a:t>
            </a:r>
            <a:r>
              <a:rPr lang="en-GB" dirty="0" err="1">
                <a:solidFill>
                  <a:schemeClr val="tx1"/>
                </a:solidFill>
              </a:rPr>
              <a:t>Atual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43594A6-4E73-2B62-DC61-89294BF1F8C3}"/>
              </a:ext>
            </a:extLst>
          </p:cNvPr>
          <p:cNvSpPr/>
          <p:nvPr/>
        </p:nvSpPr>
        <p:spPr>
          <a:xfrm>
            <a:off x="476250" y="3122612"/>
            <a:ext cx="1714500" cy="3365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>
                <a:solidFill>
                  <a:schemeClr val="tx1"/>
                </a:solidFill>
              </a:rPr>
              <a:t>Agente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2011899-A78D-BE51-1BCF-88C90EA3366D}"/>
              </a:ext>
            </a:extLst>
          </p:cNvPr>
          <p:cNvSpPr/>
          <p:nvPr/>
        </p:nvSpPr>
        <p:spPr>
          <a:xfrm>
            <a:off x="476250" y="3662362"/>
            <a:ext cx="1714500" cy="3365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>
                <a:solidFill>
                  <a:schemeClr val="tx1"/>
                </a:solidFill>
              </a:rPr>
              <a:t>Ação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874C93F-1995-BD69-20AB-1A1A6BB768ED}"/>
              </a:ext>
            </a:extLst>
          </p:cNvPr>
          <p:cNvSpPr/>
          <p:nvPr/>
        </p:nvSpPr>
        <p:spPr>
          <a:xfrm>
            <a:off x="476250" y="4187824"/>
            <a:ext cx="1714500" cy="3365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>
                <a:solidFill>
                  <a:schemeClr val="tx1"/>
                </a:solidFill>
              </a:rPr>
              <a:t>Ambiente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1D1EEF1-A947-EBA7-F079-16A74DBF6E65}"/>
              </a:ext>
            </a:extLst>
          </p:cNvPr>
          <p:cNvSpPr/>
          <p:nvPr/>
        </p:nvSpPr>
        <p:spPr>
          <a:xfrm>
            <a:off x="476250" y="4713285"/>
            <a:ext cx="1714500" cy="55403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Novo Estado + </a:t>
            </a:r>
            <a:r>
              <a:rPr lang="en-GB" dirty="0" err="1">
                <a:solidFill>
                  <a:schemeClr val="tx1"/>
                </a:solidFill>
              </a:rPr>
              <a:t>Recompensa</a:t>
            </a:r>
            <a:endParaRPr lang="en-GB" dirty="0">
              <a:solidFill>
                <a:schemeClr val="tx1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5070C02-2907-E3FC-E102-D15D8FE70FB3}"/>
              </a:ext>
            </a:extLst>
          </p:cNvPr>
          <p:cNvCxnSpPr>
            <a:stCxn id="5" idx="2"/>
            <a:endCxn id="6" idx="0"/>
          </p:cNvCxnSpPr>
          <p:nvPr/>
        </p:nvCxnSpPr>
        <p:spPr>
          <a:xfrm>
            <a:off x="1333500" y="2873375"/>
            <a:ext cx="0" cy="2492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C12F5F9-47EB-3AD1-0FF1-6681F49CF917}"/>
              </a:ext>
            </a:extLst>
          </p:cNvPr>
          <p:cNvCxnSpPr>
            <a:stCxn id="6" idx="2"/>
            <a:endCxn id="7" idx="0"/>
          </p:cNvCxnSpPr>
          <p:nvPr/>
        </p:nvCxnSpPr>
        <p:spPr>
          <a:xfrm>
            <a:off x="1333500" y="3459162"/>
            <a:ext cx="0" cy="2032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86F7F07-4A07-BEB7-B6AE-C8070454B8C5}"/>
              </a:ext>
            </a:extLst>
          </p:cNvPr>
          <p:cNvCxnSpPr>
            <a:stCxn id="7" idx="2"/>
            <a:endCxn id="8" idx="0"/>
          </p:cNvCxnSpPr>
          <p:nvPr/>
        </p:nvCxnSpPr>
        <p:spPr>
          <a:xfrm>
            <a:off x="1333500" y="3998912"/>
            <a:ext cx="0" cy="1889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01ED8436-E42E-A847-58F3-A13BC2B7DF36}"/>
              </a:ext>
            </a:extLst>
          </p:cNvPr>
          <p:cNvCxnSpPr>
            <a:stCxn id="8" idx="2"/>
            <a:endCxn id="9" idx="0"/>
          </p:cNvCxnSpPr>
          <p:nvPr/>
        </p:nvCxnSpPr>
        <p:spPr>
          <a:xfrm>
            <a:off x="1333500" y="4524374"/>
            <a:ext cx="0" cy="1889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B6FF8756-B9F6-86EF-4EC0-A8BF36BD0D61}"/>
              </a:ext>
            </a:extLst>
          </p:cNvPr>
          <p:cNvCxnSpPr>
            <a:stCxn id="9" idx="3"/>
            <a:endCxn id="6" idx="3"/>
          </p:cNvCxnSpPr>
          <p:nvPr/>
        </p:nvCxnSpPr>
        <p:spPr>
          <a:xfrm flipV="1">
            <a:off x="2190750" y="3290887"/>
            <a:ext cx="12700" cy="1699418"/>
          </a:xfrm>
          <a:prstGeom prst="bentConnector3">
            <a:avLst>
              <a:gd name="adj1" fmla="val 180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DEC3D185-282A-8EDF-4F1C-615334613A30}"/>
              </a:ext>
            </a:extLst>
          </p:cNvPr>
          <p:cNvSpPr txBox="1"/>
          <p:nvPr/>
        </p:nvSpPr>
        <p:spPr>
          <a:xfrm>
            <a:off x="384175" y="2102922"/>
            <a:ext cx="18129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800"/>
              </a:spcBef>
              <a:spcAft>
                <a:spcPts val="1200"/>
              </a:spcAft>
              <a:buNone/>
            </a:pPr>
            <a:r>
              <a:rPr lang="en-GB" b="1" i="0" dirty="0">
                <a:solidFill>
                  <a:srgbClr val="3B3B3B"/>
                </a:solidFill>
                <a:effectLst/>
                <a:latin typeface="-apple-system"/>
              </a:rPr>
              <a:t>Learning Cycle</a:t>
            </a:r>
          </a:p>
        </p:txBody>
      </p:sp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310D420D-B94F-2EFA-D4A5-C9FA4867B4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7308767"/>
              </p:ext>
            </p:extLst>
          </p:nvPr>
        </p:nvGraphicFramePr>
        <p:xfrm>
          <a:off x="2940050" y="2997993"/>
          <a:ext cx="33655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0000">
                  <a:extLst>
                    <a:ext uri="{9D8B030D-6E8A-4147-A177-3AD203B41FA5}">
                      <a16:colId xmlns:a16="http://schemas.microsoft.com/office/drawing/2014/main" val="2105854146"/>
                    </a:ext>
                  </a:extLst>
                </a:gridCol>
                <a:gridCol w="2095500">
                  <a:extLst>
                    <a:ext uri="{9D8B030D-6E8A-4147-A177-3AD203B41FA5}">
                      <a16:colId xmlns:a16="http://schemas.microsoft.com/office/drawing/2014/main" val="257279488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1800" b="1" i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Action ID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800" b="1" i="0" kern="1200" dirty="0" err="1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Descrição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91193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Silence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98721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Low Coaching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83825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Medium Coaching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02615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High Coaching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096214"/>
                  </a:ext>
                </a:extLst>
              </a:tr>
            </a:tbl>
          </a:graphicData>
        </a:graphic>
      </p:graphicFrame>
      <p:sp>
        <p:nvSpPr>
          <p:cNvPr id="27" name="TextBox 26">
            <a:extLst>
              <a:ext uri="{FF2B5EF4-FFF2-40B4-BE49-F238E27FC236}">
                <a16:creationId xmlns:a16="http://schemas.microsoft.com/office/drawing/2014/main" id="{0333E0A0-3C0C-C6EE-F0F1-49069004067C}"/>
              </a:ext>
            </a:extLst>
          </p:cNvPr>
          <p:cNvSpPr txBox="1"/>
          <p:nvPr/>
        </p:nvSpPr>
        <p:spPr>
          <a:xfrm>
            <a:off x="2863851" y="2102922"/>
            <a:ext cx="314324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Action Space</a:t>
            </a:r>
          </a:p>
          <a:p>
            <a:r>
              <a:rPr lang="en-GB" dirty="0"/>
              <a:t>O </a:t>
            </a:r>
            <a:r>
              <a:rPr lang="en-GB" dirty="0" err="1"/>
              <a:t>Agente</a:t>
            </a:r>
            <a:r>
              <a:rPr lang="en-GB" dirty="0"/>
              <a:t> </a:t>
            </a:r>
            <a:r>
              <a:rPr lang="en-GB" dirty="0" err="1"/>
              <a:t>pode</a:t>
            </a:r>
            <a:r>
              <a:rPr lang="en-GB" dirty="0"/>
              <a:t> </a:t>
            </a:r>
            <a:r>
              <a:rPr lang="en-GB" dirty="0" err="1"/>
              <a:t>escolher</a:t>
            </a:r>
            <a:r>
              <a:rPr lang="en-GB" dirty="0"/>
              <a:t> </a:t>
            </a:r>
            <a:r>
              <a:rPr lang="en-GB" dirty="0" err="1"/>
              <a:t>uma</a:t>
            </a:r>
            <a:r>
              <a:rPr lang="en-GB" dirty="0"/>
              <a:t> das </a:t>
            </a:r>
            <a:r>
              <a:rPr lang="en-GB" dirty="0" err="1"/>
              <a:t>seguinte</a:t>
            </a:r>
            <a:r>
              <a:rPr lang="en-GB" dirty="0"/>
              <a:t> </a:t>
            </a:r>
            <a:r>
              <a:rPr lang="en-GB" dirty="0" err="1"/>
              <a:t>ações</a:t>
            </a:r>
            <a:endParaRPr lang="en-GB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2D7E453-4E91-1C8D-347B-948EE9822B52}"/>
              </a:ext>
            </a:extLst>
          </p:cNvPr>
          <p:cNvSpPr txBox="1"/>
          <p:nvPr/>
        </p:nvSpPr>
        <p:spPr>
          <a:xfrm>
            <a:off x="6972300" y="2266950"/>
            <a:ext cx="3409950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Reward Function</a:t>
            </a:r>
          </a:p>
          <a:p>
            <a:r>
              <a:rPr lang="en-GB" u="sng" dirty="0" err="1"/>
              <a:t>Recompensa</a:t>
            </a:r>
            <a:r>
              <a:rPr lang="en-GB" u="sng" dirty="0"/>
              <a:t> </a:t>
            </a:r>
            <a:r>
              <a:rPr lang="en-GB" u="sng" dirty="0" err="1"/>
              <a:t>Positiva</a:t>
            </a:r>
            <a:endParaRPr lang="en-GB" u="sng" dirty="0"/>
          </a:p>
          <a:p>
            <a:r>
              <a:rPr lang="en-GB" dirty="0"/>
              <a:t>+ 15 </a:t>
            </a:r>
            <a:r>
              <a:rPr lang="en-GB" dirty="0" err="1"/>
              <a:t>quando</a:t>
            </a:r>
            <a:r>
              <a:rPr lang="en-GB" dirty="0"/>
              <a:t>:</a:t>
            </a:r>
          </a:p>
          <a:p>
            <a:r>
              <a:rPr lang="en-GB" dirty="0" err="1"/>
              <a:t>activity_level</a:t>
            </a:r>
            <a:r>
              <a:rPr lang="en-GB" dirty="0"/>
              <a:t> ∈ [4,7]</a:t>
            </a:r>
          </a:p>
          <a:p>
            <a:r>
              <a:rPr lang="en-GB" dirty="0" err="1"/>
              <a:t>physical_fatigue</a:t>
            </a:r>
            <a:r>
              <a:rPr lang="en-GB" dirty="0"/>
              <a:t> &lt; 7</a:t>
            </a:r>
          </a:p>
          <a:p>
            <a:r>
              <a:rPr lang="en-GB" dirty="0" err="1"/>
              <a:t>irritation_level</a:t>
            </a:r>
            <a:r>
              <a:rPr lang="en-GB" dirty="0"/>
              <a:t> &lt; 5</a:t>
            </a:r>
          </a:p>
          <a:p>
            <a:r>
              <a:rPr lang="en-GB" u="sng" dirty="0" err="1"/>
              <a:t>Penalização</a:t>
            </a:r>
            <a:r>
              <a:rPr lang="en-GB" u="sng" dirty="0"/>
              <a:t> </a:t>
            </a:r>
            <a:r>
              <a:rPr lang="en-GB" u="sng" dirty="0" err="1"/>
              <a:t>por</a:t>
            </a:r>
            <a:r>
              <a:rPr lang="en-GB" u="sng" dirty="0"/>
              <a:t> Baixa </a:t>
            </a:r>
            <a:r>
              <a:rPr lang="en-GB" u="sng" dirty="0" err="1"/>
              <a:t>Atividade</a:t>
            </a:r>
            <a:endParaRPr lang="en-GB" u="sng" dirty="0"/>
          </a:p>
          <a:p>
            <a:r>
              <a:rPr lang="en-GB" dirty="0"/>
              <a:t>- 5 </a:t>
            </a:r>
            <a:r>
              <a:rPr lang="en-GB" dirty="0" err="1"/>
              <a:t>quando</a:t>
            </a:r>
            <a:r>
              <a:rPr lang="en-GB" dirty="0"/>
              <a:t>:</a:t>
            </a:r>
          </a:p>
          <a:p>
            <a:r>
              <a:rPr lang="en-GB" dirty="0" err="1"/>
              <a:t>activity_level</a:t>
            </a:r>
            <a:r>
              <a:rPr lang="en-GB" dirty="0"/>
              <a:t> &lt; 2</a:t>
            </a:r>
          </a:p>
          <a:p>
            <a:r>
              <a:rPr lang="en-GB" u="sng" dirty="0" err="1"/>
              <a:t>Penalização</a:t>
            </a:r>
            <a:r>
              <a:rPr lang="en-GB" u="sng" dirty="0"/>
              <a:t> </a:t>
            </a:r>
            <a:r>
              <a:rPr lang="en-GB" u="sng" dirty="0" err="1"/>
              <a:t>por</a:t>
            </a:r>
            <a:r>
              <a:rPr lang="en-GB" u="sng" dirty="0"/>
              <a:t> Estado </a:t>
            </a:r>
            <a:r>
              <a:rPr lang="en-GB" u="sng" dirty="0" err="1"/>
              <a:t>Crítico</a:t>
            </a:r>
            <a:endParaRPr lang="en-GB" u="sng" dirty="0"/>
          </a:p>
          <a:p>
            <a:r>
              <a:rPr lang="en-GB" dirty="0"/>
              <a:t>-50 </a:t>
            </a:r>
            <a:r>
              <a:rPr lang="en-GB" dirty="0" err="1"/>
              <a:t>quando</a:t>
            </a:r>
            <a:r>
              <a:rPr lang="en-GB" dirty="0"/>
              <a:t>:</a:t>
            </a:r>
          </a:p>
          <a:p>
            <a:r>
              <a:rPr lang="en-GB" dirty="0" err="1"/>
              <a:t>physical_fatigue</a:t>
            </a:r>
            <a:r>
              <a:rPr lang="en-GB" dirty="0"/>
              <a:t> &gt;= 10</a:t>
            </a:r>
          </a:p>
          <a:p>
            <a:r>
              <a:rPr lang="en-GB" dirty="0"/>
              <a:t>Ou</a:t>
            </a:r>
          </a:p>
          <a:p>
            <a:r>
              <a:rPr lang="en-GB" dirty="0" err="1"/>
              <a:t>irritation_level</a:t>
            </a:r>
            <a:r>
              <a:rPr lang="en-GB" dirty="0"/>
              <a:t> &gt;= 10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424800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B17FB7-8CD8-B2EB-CE9D-96686D8189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Supported Algorithms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F921B6-1B14-70BF-F60A-719784FA4B3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pt-BR" dirty="0"/>
              <a:t>PPO (Proximal Policy Optimization)</a:t>
            </a:r>
          </a:p>
          <a:p>
            <a:r>
              <a:rPr lang="pt-BR" dirty="0"/>
              <a:t>O PPO é um algoritmo baseado em Policy Gradient.</a:t>
            </a:r>
          </a:p>
          <a:p>
            <a:r>
              <a:rPr lang="pt-BR" dirty="0"/>
              <a:t>Em vez de aprender diretamente o valor de cada ação, aprende uma política que produz probabilidades para cada ação disponível.</a:t>
            </a:r>
          </a:p>
          <a:p>
            <a:r>
              <a:rPr lang="pt-BR" dirty="0"/>
              <a:t>Vantagens</a:t>
            </a:r>
          </a:p>
          <a:p>
            <a:pPr lvl="1"/>
            <a:r>
              <a:rPr lang="pt-BR" dirty="0"/>
              <a:t>Treino estável</a:t>
            </a:r>
          </a:p>
          <a:p>
            <a:pPr lvl="1"/>
            <a:r>
              <a:rPr lang="pt-BR" dirty="0"/>
              <a:t>Boa capacidade de generalização</a:t>
            </a:r>
          </a:p>
          <a:p>
            <a:pPr lvl="1"/>
            <a:r>
              <a:rPr lang="pt-BR" dirty="0"/>
              <a:t>Menor sensibilidade a hiperparâmetros</a:t>
            </a:r>
          </a:p>
          <a:p>
            <a:pPr lvl="1"/>
            <a:r>
              <a:rPr lang="pt-BR" dirty="0"/>
              <a:t>Excelente desempenho em ambientes complexos</a:t>
            </a:r>
          </a:p>
          <a:p>
            <a:r>
              <a:rPr lang="pt-BR" dirty="0"/>
              <a:t>Funcionamento</a:t>
            </a:r>
          </a:p>
          <a:p>
            <a:pPr lvl="1"/>
            <a:r>
              <a:rPr lang="pt-BR" dirty="0"/>
              <a:t>O agente interage com o ambiente.</a:t>
            </a:r>
          </a:p>
          <a:p>
            <a:pPr lvl="1"/>
            <a:r>
              <a:rPr lang="pt-BR" dirty="0"/>
              <a:t>São recolhidas trajetórias de experiência.</a:t>
            </a:r>
          </a:p>
          <a:p>
            <a:pPr lvl="1"/>
            <a:r>
              <a:rPr lang="pt-BR" dirty="0"/>
              <a:t>É calculada a vantagem (Advantage Estimate).</a:t>
            </a:r>
          </a:p>
          <a:p>
            <a:pPr lvl="1"/>
            <a:r>
              <a:rPr lang="pt-BR" dirty="0"/>
              <a:t>A política é atualizada através de clipping.</a:t>
            </a:r>
          </a:p>
          <a:p>
            <a:pPr lvl="1"/>
            <a:r>
              <a:rPr lang="pt-BR" dirty="0"/>
              <a:t>O processo repete-se até convergência.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B8B3624-329F-309F-73B9-26A8E395EA7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pt-BR" dirty="0"/>
              <a:t>DQN (Deep Q-Network)</a:t>
            </a:r>
          </a:p>
          <a:p>
            <a:r>
              <a:rPr lang="pt-BR" dirty="0"/>
              <a:t>O DQN é um algoritmo baseado em Value Functions.</a:t>
            </a:r>
          </a:p>
          <a:p>
            <a:r>
              <a:rPr lang="pt-BR" dirty="0"/>
              <a:t>Aprende uma função Q(state, action), que estima a recompensa futura esperada para cada ação.</a:t>
            </a:r>
          </a:p>
          <a:p>
            <a:r>
              <a:rPr lang="pt-BR" dirty="0"/>
              <a:t>Vantagens</a:t>
            </a:r>
          </a:p>
          <a:p>
            <a:pPr lvl="1"/>
            <a:r>
              <a:rPr lang="pt-BR" dirty="0"/>
              <a:t>Simples de interpretar</a:t>
            </a:r>
          </a:p>
          <a:p>
            <a:pPr lvl="1"/>
            <a:r>
              <a:rPr lang="pt-BR" dirty="0"/>
              <a:t>Muito eficaz para ações discretas</a:t>
            </a:r>
          </a:p>
          <a:p>
            <a:pPr lvl="1"/>
            <a:r>
              <a:rPr lang="pt-BR" dirty="0"/>
              <a:t>Treino rápido</a:t>
            </a:r>
          </a:p>
          <a:p>
            <a:r>
              <a:rPr lang="pt-BR" dirty="0"/>
              <a:t>Funcionamento</a:t>
            </a:r>
          </a:p>
          <a:p>
            <a:pPr lvl="1"/>
            <a:r>
              <a:rPr lang="pt-BR" dirty="0"/>
              <a:t>O agente observa um estado.</a:t>
            </a:r>
          </a:p>
          <a:p>
            <a:pPr lvl="1"/>
            <a:r>
              <a:rPr lang="pt-BR" dirty="0"/>
              <a:t>A rede calcula os valores Q para cada ação.</a:t>
            </a:r>
          </a:p>
          <a:p>
            <a:pPr lvl="1"/>
            <a:r>
              <a:rPr lang="pt-BR" dirty="0"/>
              <a:t>É escolhida a ação com maior valor esperado.</a:t>
            </a:r>
          </a:p>
          <a:p>
            <a:pPr lvl="1"/>
            <a:r>
              <a:rPr lang="pt-BR" dirty="0"/>
              <a:t>A experiência é armazenada num Replay Buffer.</a:t>
            </a:r>
          </a:p>
          <a:p>
            <a:pPr lvl="1"/>
            <a:r>
              <a:rPr lang="pt-BR" dirty="0"/>
              <a:t>O treino é realizado através de amostragem aleatória desse buffer.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28934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B19857-3169-7B41-5E3B-6921C6FB68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Training Configuration (</a:t>
            </a:r>
            <a:r>
              <a:rPr lang="en-GB" dirty="0" err="1"/>
              <a:t>training_config.yaml</a:t>
            </a:r>
            <a:br>
              <a:rPr lang="en-GB" dirty="0"/>
            </a:br>
            <a:r>
              <a:rPr lang="en-GB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BB1036-FE7C-E95A-3A51-9B932F04825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8471263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PPO Configuration</a:t>
            </a:r>
          </a:p>
          <a:p>
            <a:pPr lvl="1"/>
            <a:r>
              <a:rPr lang="en-GB" dirty="0"/>
              <a:t> </a:t>
            </a:r>
            <a:r>
              <a:rPr lang="en-GB" dirty="0" err="1"/>
              <a:t>learning_rate</a:t>
            </a:r>
            <a:r>
              <a:rPr lang="en-GB" dirty="0"/>
              <a:t>: 0.0003 #Taxa de </a:t>
            </a:r>
            <a:r>
              <a:rPr lang="en-GB" dirty="0" err="1"/>
              <a:t>aprendizagem</a:t>
            </a:r>
            <a:endParaRPr lang="en-GB" dirty="0"/>
          </a:p>
          <a:p>
            <a:pPr lvl="1"/>
            <a:r>
              <a:rPr lang="en-GB" dirty="0"/>
              <a:t>  </a:t>
            </a:r>
            <a:r>
              <a:rPr lang="en-GB" dirty="0" err="1"/>
              <a:t>n_steps</a:t>
            </a:r>
            <a:r>
              <a:rPr lang="en-GB" dirty="0"/>
              <a:t>: 1024 #</a:t>
            </a:r>
            <a:r>
              <a:rPr lang="pt-BR" dirty="0"/>
              <a:t>Passos recolhidos antes da atualização</a:t>
            </a:r>
            <a:endParaRPr lang="en-GB" dirty="0"/>
          </a:p>
          <a:p>
            <a:pPr lvl="1"/>
            <a:r>
              <a:rPr lang="en-GB" dirty="0"/>
              <a:t>  </a:t>
            </a:r>
            <a:r>
              <a:rPr lang="en-GB" dirty="0" err="1"/>
              <a:t>batch_size</a:t>
            </a:r>
            <a:r>
              <a:rPr lang="en-GB" dirty="0"/>
              <a:t>: 64 #Tamanho do mini-batch</a:t>
            </a:r>
          </a:p>
          <a:p>
            <a:pPr lvl="1"/>
            <a:r>
              <a:rPr lang="en-GB" dirty="0"/>
              <a:t>  </a:t>
            </a:r>
            <a:r>
              <a:rPr lang="en-GB" dirty="0" err="1"/>
              <a:t>n_epochs</a:t>
            </a:r>
            <a:r>
              <a:rPr lang="en-GB" dirty="0"/>
              <a:t>: 10 #Número de </a:t>
            </a:r>
            <a:r>
              <a:rPr lang="en-GB" dirty="0" err="1"/>
              <a:t>épocas</a:t>
            </a:r>
            <a:endParaRPr lang="en-GB" dirty="0"/>
          </a:p>
          <a:p>
            <a:pPr lvl="1"/>
            <a:r>
              <a:rPr lang="en-GB" dirty="0"/>
              <a:t>  gamma: 0.99 #Discount factor</a:t>
            </a:r>
          </a:p>
          <a:p>
            <a:pPr lvl="1"/>
            <a:r>
              <a:rPr lang="en-GB" dirty="0"/>
              <a:t>  </a:t>
            </a:r>
            <a:r>
              <a:rPr lang="en-GB" dirty="0" err="1"/>
              <a:t>gae_lambda</a:t>
            </a:r>
            <a:r>
              <a:rPr lang="en-GB" dirty="0"/>
              <a:t>: 0.95 #Generalized Advantage Estimation</a:t>
            </a:r>
          </a:p>
          <a:p>
            <a:pPr lvl="1"/>
            <a:r>
              <a:rPr lang="en-GB" dirty="0"/>
              <a:t>  </a:t>
            </a:r>
            <a:r>
              <a:rPr lang="en-GB" dirty="0" err="1"/>
              <a:t>clip_range</a:t>
            </a:r>
            <a:r>
              <a:rPr lang="en-GB" dirty="0"/>
              <a:t>: 0.2 #Limite de clipping PPO</a:t>
            </a:r>
          </a:p>
          <a:p>
            <a:pPr lvl="1"/>
            <a:r>
              <a:rPr lang="en-GB" dirty="0"/>
              <a:t>  </a:t>
            </a:r>
            <a:r>
              <a:rPr lang="en-GB" dirty="0" err="1"/>
              <a:t>ent_coef</a:t>
            </a:r>
            <a:r>
              <a:rPr lang="en-GB" dirty="0"/>
              <a:t>: 0.01 #Incentivo à </a:t>
            </a:r>
            <a:r>
              <a:rPr lang="en-GB" dirty="0" err="1"/>
              <a:t>exploração</a:t>
            </a:r>
            <a:endParaRPr lang="en-GB" dirty="0"/>
          </a:p>
          <a:p>
            <a:pPr lvl="1"/>
            <a:r>
              <a:rPr lang="en-GB" dirty="0"/>
              <a:t>  </a:t>
            </a:r>
            <a:r>
              <a:rPr lang="en-GB" dirty="0" err="1"/>
              <a:t>vf_coef</a:t>
            </a:r>
            <a:r>
              <a:rPr lang="en-GB" dirty="0"/>
              <a:t>: 0.5 #Peso da Value Function</a:t>
            </a:r>
          </a:p>
          <a:p>
            <a:pPr lvl="1"/>
            <a:r>
              <a:rPr lang="en-GB" dirty="0"/>
              <a:t>  </a:t>
            </a:r>
            <a:r>
              <a:rPr lang="en-GB" dirty="0" err="1"/>
              <a:t>max_grad_norm</a:t>
            </a:r>
            <a:r>
              <a:rPr lang="en-GB" dirty="0"/>
              <a:t>: 0.5 #Gradient clipping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760363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834A40-A1BE-D678-E6F4-0BFFF9835E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2AAB01-2332-66AC-CA3F-239E285F9B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Training Configuration (</a:t>
            </a:r>
            <a:r>
              <a:rPr lang="en-GB" dirty="0" err="1"/>
              <a:t>training_config.yaml</a:t>
            </a:r>
            <a:br>
              <a:rPr lang="en-GB" dirty="0"/>
            </a:br>
            <a:r>
              <a:rPr lang="en-GB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6B5218-F319-A814-799E-DC28485A6B9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8471263" cy="4351338"/>
          </a:xfrm>
        </p:spPr>
        <p:txBody>
          <a:bodyPr>
            <a:normAutofit fontScale="85000" lnSpcReduction="20000"/>
          </a:bodyPr>
          <a:lstStyle/>
          <a:p>
            <a:r>
              <a:rPr lang="en-GB" dirty="0"/>
              <a:t>DQN Configuration</a:t>
            </a:r>
          </a:p>
          <a:p>
            <a:pPr lvl="1"/>
            <a:r>
              <a:rPr lang="en-GB" dirty="0"/>
              <a:t>  </a:t>
            </a:r>
            <a:r>
              <a:rPr lang="en-GB" dirty="0" err="1"/>
              <a:t>learning_rate</a:t>
            </a:r>
            <a:r>
              <a:rPr lang="en-GB" dirty="0"/>
              <a:t>: 0.0005 #Taxa de </a:t>
            </a:r>
            <a:r>
              <a:rPr lang="en-GB" dirty="0" err="1"/>
              <a:t>aprendizagem</a:t>
            </a:r>
            <a:endParaRPr lang="en-GB" dirty="0"/>
          </a:p>
          <a:p>
            <a:pPr lvl="1"/>
            <a:r>
              <a:rPr lang="en-GB" dirty="0"/>
              <a:t>  </a:t>
            </a:r>
            <a:r>
              <a:rPr lang="en-GB" dirty="0" err="1"/>
              <a:t>buffer_size</a:t>
            </a:r>
            <a:r>
              <a:rPr lang="en-GB" dirty="0"/>
              <a:t>: 100000 #</a:t>
            </a:r>
            <a:r>
              <a:rPr lang="pt-BR" dirty="0"/>
              <a:t>Replay Buffer Size</a:t>
            </a:r>
            <a:endParaRPr lang="en-GB" dirty="0"/>
          </a:p>
          <a:p>
            <a:pPr lvl="1"/>
            <a:r>
              <a:rPr lang="en-GB" dirty="0"/>
              <a:t>  </a:t>
            </a:r>
            <a:r>
              <a:rPr lang="en-GB" dirty="0" err="1"/>
              <a:t>learning_starts</a:t>
            </a:r>
            <a:r>
              <a:rPr lang="en-GB" dirty="0"/>
              <a:t>: 5000 #</a:t>
            </a:r>
            <a:r>
              <a:rPr lang="pt-BR" dirty="0"/>
              <a:t>Passos antes de iniciar treino</a:t>
            </a:r>
            <a:endParaRPr lang="en-GB" dirty="0"/>
          </a:p>
          <a:p>
            <a:pPr lvl="1"/>
            <a:r>
              <a:rPr lang="en-GB" dirty="0"/>
              <a:t>  </a:t>
            </a:r>
            <a:r>
              <a:rPr lang="en-GB" dirty="0" err="1"/>
              <a:t>batch_size</a:t>
            </a:r>
            <a:r>
              <a:rPr lang="en-GB" dirty="0"/>
              <a:t>: 128 #Tamanho do batch</a:t>
            </a:r>
          </a:p>
          <a:p>
            <a:pPr lvl="1"/>
            <a:r>
              <a:rPr lang="en-GB" dirty="0"/>
              <a:t>  tau: 1.0 #Soft Update Factor</a:t>
            </a:r>
          </a:p>
          <a:p>
            <a:pPr lvl="1"/>
            <a:r>
              <a:rPr lang="en-GB" dirty="0"/>
              <a:t>  gamma: 0.99 #Discount Factor</a:t>
            </a:r>
          </a:p>
          <a:p>
            <a:pPr lvl="1"/>
            <a:r>
              <a:rPr lang="en-GB" dirty="0"/>
              <a:t>  </a:t>
            </a:r>
            <a:r>
              <a:rPr lang="en-GB" dirty="0" err="1"/>
              <a:t>train_freq</a:t>
            </a:r>
            <a:r>
              <a:rPr lang="en-GB" dirty="0"/>
              <a:t>: 4 #Frequência de </a:t>
            </a:r>
            <a:r>
              <a:rPr lang="en-GB" dirty="0" err="1"/>
              <a:t>treino</a:t>
            </a:r>
            <a:endParaRPr lang="en-GB" dirty="0"/>
          </a:p>
          <a:p>
            <a:pPr lvl="1"/>
            <a:r>
              <a:rPr lang="en-GB" dirty="0"/>
              <a:t>  </a:t>
            </a:r>
            <a:r>
              <a:rPr lang="en-GB" dirty="0" err="1"/>
              <a:t>gradient_steps</a:t>
            </a:r>
            <a:r>
              <a:rPr lang="en-GB" dirty="0"/>
              <a:t>: 1 #Atualizações </a:t>
            </a:r>
            <a:r>
              <a:rPr lang="en-GB" dirty="0" err="1"/>
              <a:t>por</a:t>
            </a:r>
            <a:r>
              <a:rPr lang="en-GB" dirty="0"/>
              <a:t> </a:t>
            </a:r>
            <a:r>
              <a:rPr lang="en-GB" dirty="0" err="1"/>
              <a:t>ciclo</a:t>
            </a:r>
            <a:endParaRPr lang="en-GB" dirty="0"/>
          </a:p>
          <a:p>
            <a:pPr lvl="1"/>
            <a:r>
              <a:rPr lang="en-GB" dirty="0"/>
              <a:t>  </a:t>
            </a:r>
            <a:r>
              <a:rPr lang="en-GB" dirty="0" err="1"/>
              <a:t>target_update_interval</a:t>
            </a:r>
            <a:r>
              <a:rPr lang="en-GB" dirty="0"/>
              <a:t>: 1000 #Atualização da Target Network</a:t>
            </a:r>
          </a:p>
          <a:p>
            <a:pPr lvl="1"/>
            <a:r>
              <a:rPr lang="en-GB" dirty="0"/>
              <a:t>  </a:t>
            </a:r>
            <a:r>
              <a:rPr lang="en-GB" dirty="0" err="1"/>
              <a:t>exploration_fraction</a:t>
            </a:r>
            <a:r>
              <a:rPr lang="en-GB" dirty="0"/>
              <a:t>: 0.25 #Percentagem de </a:t>
            </a:r>
            <a:r>
              <a:rPr lang="en-GB" dirty="0" err="1"/>
              <a:t>exploração</a:t>
            </a:r>
            <a:endParaRPr lang="en-GB" dirty="0"/>
          </a:p>
          <a:p>
            <a:pPr lvl="1"/>
            <a:r>
              <a:rPr lang="en-GB" dirty="0"/>
              <a:t>  </a:t>
            </a:r>
            <a:r>
              <a:rPr lang="en-GB" dirty="0" err="1"/>
              <a:t>exploration_initial_eps</a:t>
            </a:r>
            <a:r>
              <a:rPr lang="en-GB" dirty="0"/>
              <a:t>: 1.0 #Epsilon </a:t>
            </a:r>
            <a:r>
              <a:rPr lang="en-GB" dirty="0" err="1"/>
              <a:t>inicial</a:t>
            </a:r>
            <a:endParaRPr lang="en-GB" dirty="0"/>
          </a:p>
          <a:p>
            <a:pPr lvl="1"/>
            <a:r>
              <a:rPr lang="en-GB" dirty="0"/>
              <a:t>  </a:t>
            </a:r>
            <a:r>
              <a:rPr lang="en-GB" dirty="0" err="1"/>
              <a:t>exploration_final_eps</a:t>
            </a:r>
            <a:r>
              <a:rPr lang="en-GB" dirty="0"/>
              <a:t>: 0.05 #Epsilon final</a:t>
            </a:r>
          </a:p>
          <a:p>
            <a:pPr lvl="1"/>
            <a:r>
              <a:rPr lang="en-GB" dirty="0"/>
              <a:t>  </a:t>
            </a:r>
            <a:r>
              <a:rPr lang="en-GB" dirty="0" err="1"/>
              <a:t>max_grad_norm</a:t>
            </a:r>
            <a:r>
              <a:rPr lang="en-GB" dirty="0"/>
              <a:t>: 10.0 #Gradient clipping</a:t>
            </a:r>
          </a:p>
        </p:txBody>
      </p:sp>
    </p:spTree>
    <p:extLst>
      <p:ext uri="{BB962C8B-B14F-4D97-AF65-F5344CB8AC3E}">
        <p14:creationId xmlns:p14="http://schemas.microsoft.com/office/powerpoint/2010/main" val="40288236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7CA6EF-C00B-1539-5F75-A460FA4AE7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9BF014-EF9C-C5D9-54D8-01B2FD5237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Training Configuration (</a:t>
            </a:r>
            <a:r>
              <a:rPr lang="en-GB" dirty="0" err="1"/>
              <a:t>training_config.yaml</a:t>
            </a:r>
            <a:br>
              <a:rPr lang="en-GB" dirty="0"/>
            </a:br>
            <a:r>
              <a:rPr lang="en-GB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9CA24B-CDE1-FCE1-33F8-6E1C4D86D47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8471263" cy="2894421"/>
          </a:xfrm>
        </p:spPr>
        <p:txBody>
          <a:bodyPr>
            <a:normAutofit/>
          </a:bodyPr>
          <a:lstStyle/>
          <a:p>
            <a:r>
              <a:rPr lang="en-GB" dirty="0"/>
              <a:t>Global Training Parameters</a:t>
            </a:r>
          </a:p>
          <a:p>
            <a:pPr lvl="1"/>
            <a:r>
              <a:rPr lang="en-GB" dirty="0"/>
              <a:t> </a:t>
            </a:r>
            <a:r>
              <a:rPr lang="en-GB" dirty="0" err="1"/>
              <a:t>total_timesteps</a:t>
            </a:r>
            <a:r>
              <a:rPr lang="en-GB" dirty="0"/>
              <a:t>: 400000 #Número total de </a:t>
            </a:r>
            <a:r>
              <a:rPr lang="en-GB" dirty="0" err="1"/>
              <a:t>interações</a:t>
            </a:r>
            <a:endParaRPr lang="en-GB" dirty="0"/>
          </a:p>
          <a:p>
            <a:pPr lvl="1"/>
            <a:r>
              <a:rPr lang="en-GB" dirty="0"/>
              <a:t>  </a:t>
            </a:r>
            <a:r>
              <a:rPr lang="en-GB" dirty="0" err="1"/>
              <a:t>n_envs</a:t>
            </a:r>
            <a:r>
              <a:rPr lang="en-GB" dirty="0"/>
              <a:t>: 8 #Ambientes </a:t>
            </a:r>
            <a:r>
              <a:rPr lang="en-GB" dirty="0" err="1"/>
              <a:t>paralelos</a:t>
            </a:r>
            <a:endParaRPr lang="en-GB" dirty="0"/>
          </a:p>
          <a:p>
            <a:pPr lvl="1"/>
            <a:r>
              <a:rPr lang="en-GB" dirty="0"/>
              <a:t>  </a:t>
            </a:r>
            <a:r>
              <a:rPr lang="en-GB" dirty="0" err="1"/>
              <a:t>eval_freq</a:t>
            </a:r>
            <a:r>
              <a:rPr lang="en-GB" dirty="0"/>
              <a:t>: 10000 #Frequência de </a:t>
            </a:r>
            <a:r>
              <a:rPr lang="en-GB" dirty="0" err="1"/>
              <a:t>avaliação</a:t>
            </a:r>
            <a:endParaRPr lang="en-GB" dirty="0"/>
          </a:p>
          <a:p>
            <a:pPr lvl="1"/>
            <a:r>
              <a:rPr lang="en-GB" dirty="0"/>
              <a:t>  </a:t>
            </a:r>
            <a:r>
              <a:rPr lang="en-GB" dirty="0" err="1"/>
              <a:t>n_eval_episodes</a:t>
            </a:r>
            <a:r>
              <a:rPr lang="en-GB" dirty="0"/>
              <a:t>: 20 #Episódios de </a:t>
            </a:r>
            <a:r>
              <a:rPr lang="en-GB" dirty="0" err="1"/>
              <a:t>avaliação</a:t>
            </a:r>
            <a:endParaRPr lang="en-GB" dirty="0"/>
          </a:p>
          <a:p>
            <a:pPr lvl="1"/>
            <a:r>
              <a:rPr lang="en-GB" dirty="0"/>
              <a:t>  seed: 42 #Seed de </a:t>
            </a:r>
            <a:r>
              <a:rPr lang="en-GB" dirty="0" err="1"/>
              <a:t>reprodutibilidade</a:t>
            </a:r>
            <a:endParaRPr lang="en-GB" dirty="0"/>
          </a:p>
          <a:p>
            <a:pPr lvl="1"/>
            <a:r>
              <a:rPr lang="en-GB" dirty="0"/>
              <a:t>  </a:t>
            </a:r>
            <a:r>
              <a:rPr lang="en-GB" dirty="0" err="1"/>
              <a:t>episode_length</a:t>
            </a:r>
            <a:r>
              <a:rPr lang="en-GB" dirty="0"/>
              <a:t>: 96 #Duração </a:t>
            </a:r>
            <a:r>
              <a:rPr lang="en-GB" dirty="0" err="1"/>
              <a:t>máxima</a:t>
            </a:r>
            <a:r>
              <a:rPr lang="en-GB" dirty="0"/>
              <a:t> do </a:t>
            </a:r>
            <a:r>
              <a:rPr lang="en-GB" dirty="0" err="1"/>
              <a:t>episódio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578297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D7357C-7F07-D118-AC15-6A3D28ED2D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5B0409-08FE-0BBA-2C7C-2BC3CEC003D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/>
              <a:t>Train PPO</a:t>
            </a:r>
          </a:p>
          <a:p>
            <a:pPr lvl="1"/>
            <a:r>
              <a:rPr lang="en-GB" dirty="0"/>
              <a:t>python src/train.py --algo </a:t>
            </a:r>
            <a:r>
              <a:rPr lang="en-GB" dirty="0" err="1"/>
              <a:t>ppo</a:t>
            </a:r>
            <a:endParaRPr lang="en-GB" dirty="0"/>
          </a:p>
          <a:p>
            <a:r>
              <a:rPr lang="en-GB" dirty="0"/>
              <a:t>Train DQN</a:t>
            </a:r>
          </a:p>
          <a:p>
            <a:pPr lvl="1"/>
            <a:r>
              <a:rPr lang="en-GB" dirty="0"/>
              <a:t>python src/train.py --algo </a:t>
            </a:r>
            <a:r>
              <a:rPr lang="en-GB" dirty="0" err="1"/>
              <a:t>dqn</a:t>
            </a:r>
            <a:endParaRPr lang="en-GB" dirty="0"/>
          </a:p>
          <a:p>
            <a:r>
              <a:rPr lang="en-GB" dirty="0"/>
              <a:t>Train Both</a:t>
            </a:r>
          </a:p>
          <a:p>
            <a:pPr lvl="1"/>
            <a:r>
              <a:rPr lang="en-GB" dirty="0"/>
              <a:t>python src/train.py --config config/</a:t>
            </a:r>
            <a:r>
              <a:rPr lang="en-GB" dirty="0" err="1"/>
              <a:t>training_config.yaml</a:t>
            </a:r>
            <a:r>
              <a:rPr lang="en-GB" dirty="0"/>
              <a:t> --algo both</a:t>
            </a:r>
          </a:p>
          <a:p>
            <a:r>
              <a:rPr lang="en-GB" dirty="0"/>
              <a:t>Training Outputs</a:t>
            </a:r>
          </a:p>
          <a:p>
            <a:pPr lvl="1"/>
            <a:r>
              <a:rPr lang="en-GB" dirty="0" err="1"/>
              <a:t>Os</a:t>
            </a:r>
            <a:r>
              <a:rPr lang="en-GB" dirty="0"/>
              <a:t> </a:t>
            </a:r>
            <a:r>
              <a:rPr lang="en-GB" dirty="0" err="1"/>
              <a:t>modelos</a:t>
            </a:r>
            <a:r>
              <a:rPr lang="en-GB" dirty="0"/>
              <a:t> </a:t>
            </a:r>
            <a:r>
              <a:rPr lang="en-GB" dirty="0" err="1"/>
              <a:t>treinados</a:t>
            </a:r>
            <a:r>
              <a:rPr lang="en-GB" dirty="0"/>
              <a:t> </a:t>
            </a:r>
            <a:r>
              <a:rPr lang="en-GB" dirty="0" err="1"/>
              <a:t>são</a:t>
            </a:r>
            <a:r>
              <a:rPr lang="en-GB" dirty="0"/>
              <a:t> </a:t>
            </a:r>
            <a:r>
              <a:rPr lang="en-GB" dirty="0" err="1"/>
              <a:t>armazenados</a:t>
            </a:r>
            <a:r>
              <a:rPr lang="en-GB" dirty="0"/>
              <a:t> </a:t>
            </a:r>
            <a:r>
              <a:rPr lang="en-GB" dirty="0" err="1"/>
              <a:t>em</a:t>
            </a:r>
            <a:r>
              <a:rPr lang="en-GB" dirty="0"/>
              <a:t>:</a:t>
            </a:r>
          </a:p>
          <a:p>
            <a:pPr lvl="2"/>
            <a:r>
              <a:rPr lang="en-GB" dirty="0"/>
              <a:t>training/checkpoints/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253D45A-CD9F-BFFD-2F3F-8F0A97AD2B2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/>
              <a:t>Evaluation</a:t>
            </a:r>
          </a:p>
          <a:p>
            <a:pPr lvl="1"/>
            <a:r>
              <a:rPr lang="en-GB" dirty="0" err="1"/>
              <a:t>Comparação</a:t>
            </a:r>
            <a:r>
              <a:rPr lang="en-GB" dirty="0"/>
              <a:t> entre PPO e DQN:</a:t>
            </a:r>
          </a:p>
          <a:p>
            <a:pPr lvl="2"/>
            <a:r>
              <a:rPr lang="en-GB" dirty="0"/>
              <a:t>python src/evaluate.py --algo compare --episodes 20</a:t>
            </a:r>
          </a:p>
          <a:p>
            <a:pPr lvl="1"/>
            <a:r>
              <a:rPr lang="en-GB" dirty="0" err="1"/>
              <a:t>Avaliação</a:t>
            </a:r>
            <a:r>
              <a:rPr lang="en-GB" dirty="0"/>
              <a:t> individual:</a:t>
            </a:r>
          </a:p>
          <a:p>
            <a:pPr lvl="2"/>
            <a:r>
              <a:rPr lang="en-GB" dirty="0"/>
              <a:t>python src/evaluate.py --algo </a:t>
            </a:r>
            <a:r>
              <a:rPr lang="en-GB" dirty="0" err="1"/>
              <a:t>ppo</a:t>
            </a:r>
            <a:r>
              <a:rPr lang="en-GB" dirty="0"/>
              <a:t> --model checkpoints/</a:t>
            </a:r>
            <a:r>
              <a:rPr lang="en-GB" dirty="0" err="1"/>
              <a:t>ppo</a:t>
            </a:r>
            <a:r>
              <a:rPr lang="en-GB" dirty="0"/>
              <a:t>/best/</a:t>
            </a:r>
            <a:r>
              <a:rPr lang="en-GB" dirty="0" err="1"/>
              <a:t>best_model</a:t>
            </a:r>
            <a:endParaRPr lang="en-GB" dirty="0"/>
          </a:p>
          <a:p>
            <a:pPr lvl="2"/>
            <a:r>
              <a:rPr lang="en-GB" dirty="0"/>
              <a:t>python src/evaluate.py --algo </a:t>
            </a:r>
            <a:r>
              <a:rPr lang="en-GB" dirty="0" err="1"/>
              <a:t>dqn</a:t>
            </a:r>
            <a:r>
              <a:rPr lang="en-GB" dirty="0"/>
              <a:t> --model checkpoints/</a:t>
            </a:r>
            <a:r>
              <a:rPr lang="en-GB" dirty="0" err="1"/>
              <a:t>dqn</a:t>
            </a:r>
            <a:r>
              <a:rPr lang="en-GB" dirty="0"/>
              <a:t>/best/</a:t>
            </a:r>
            <a:r>
              <a:rPr lang="en-GB" dirty="0" err="1"/>
              <a:t>best_model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151270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9FE17F-5290-EA8B-24AD-7B13BF2F60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ONNX Export/Android Integration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36218E-ACB7-E265-7229-481634145DA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pt-BR" dirty="0"/>
              <a:t>Após o treino, os modelos Stable-Baselines3 devem ser convertidos para ONNX para utilização na aplicação Android.</a:t>
            </a:r>
          </a:p>
          <a:p>
            <a:pPr lvl="1"/>
            <a:r>
              <a:rPr lang="en-GB" dirty="0"/>
              <a:t>export/export_onnx.py</a:t>
            </a:r>
          </a:p>
          <a:p>
            <a:pPr lvl="2"/>
            <a:r>
              <a:rPr lang="pt-BR" dirty="0"/>
              <a:t>Carrega um modelo PPO ou DQN treinado.</a:t>
            </a:r>
          </a:p>
          <a:p>
            <a:pPr lvl="2"/>
            <a:r>
              <a:rPr lang="pt-BR" dirty="0"/>
              <a:t>Extrai a rede de inferência.</a:t>
            </a:r>
          </a:p>
          <a:p>
            <a:pPr lvl="2"/>
            <a:r>
              <a:rPr lang="pt-BR" dirty="0"/>
              <a:t>Converte a rede para ONNX.</a:t>
            </a:r>
          </a:p>
          <a:p>
            <a:pPr lvl="2"/>
            <a:r>
              <a:rPr lang="pt-BR" dirty="0"/>
              <a:t>Gera um ficheiro compatível com ONNX Runtime.</a:t>
            </a:r>
          </a:p>
          <a:p>
            <a:pPr lvl="2"/>
            <a:r>
              <a:rPr lang="pt-BR" dirty="0"/>
              <a:t>Opcionalmente valida o modelo exportado.</a:t>
            </a:r>
          </a:p>
          <a:p>
            <a:pPr lvl="2"/>
            <a:r>
              <a:rPr lang="pt-BR" dirty="0"/>
              <a:t>O objetivo é remover a dependência de Python e Stable-Baselines3 em ambiente mobile.</a:t>
            </a:r>
          </a:p>
          <a:p>
            <a:pPr lvl="1"/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1BB929C-E800-AB56-FB6F-B19F700A82B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GB" dirty="0"/>
              <a:t>ONNX Inputs</a:t>
            </a:r>
          </a:p>
          <a:p>
            <a:pPr lvl="1"/>
            <a:r>
              <a:rPr lang="en-GB" dirty="0"/>
              <a:t>[</a:t>
            </a:r>
            <a:r>
              <a:rPr lang="en-GB" dirty="0" err="1"/>
              <a:t>activity_level</a:t>
            </a:r>
            <a:r>
              <a:rPr lang="en-GB" dirty="0"/>
              <a:t>, </a:t>
            </a:r>
            <a:r>
              <a:rPr lang="en-GB" dirty="0" err="1"/>
              <a:t>physical_fatigue</a:t>
            </a:r>
            <a:r>
              <a:rPr lang="en-GB" dirty="0"/>
              <a:t>, </a:t>
            </a:r>
            <a:r>
              <a:rPr lang="en-GB" dirty="0" err="1"/>
              <a:t>irritation_level</a:t>
            </a:r>
            <a:r>
              <a:rPr lang="en-GB" dirty="0"/>
              <a:t>]</a:t>
            </a:r>
          </a:p>
          <a:p>
            <a:r>
              <a:rPr lang="en-GB" dirty="0"/>
              <a:t>ONNX Outputs</a:t>
            </a:r>
          </a:p>
          <a:p>
            <a:pPr lvl="1"/>
            <a:r>
              <a:rPr lang="en-GB" dirty="0"/>
              <a:t>[</a:t>
            </a:r>
            <a:r>
              <a:rPr lang="en-GB" dirty="0" err="1"/>
              <a:t>action_scores</a:t>
            </a:r>
            <a:r>
              <a:rPr lang="en-GB" dirty="0"/>
              <a:t>]</a:t>
            </a:r>
          </a:p>
          <a:p>
            <a:pPr lvl="2"/>
            <a:r>
              <a:rPr lang="en-GB" dirty="0"/>
              <a:t>0 = Silence</a:t>
            </a:r>
          </a:p>
          <a:p>
            <a:pPr lvl="2"/>
            <a:r>
              <a:rPr lang="en-GB" dirty="0"/>
              <a:t>1 = Low Coaching</a:t>
            </a:r>
          </a:p>
          <a:p>
            <a:pPr lvl="2"/>
            <a:r>
              <a:rPr lang="en-GB" dirty="0"/>
              <a:t>2 = Medium Coaching</a:t>
            </a:r>
          </a:p>
          <a:p>
            <a:pPr lvl="2"/>
            <a:r>
              <a:rPr lang="en-GB" dirty="0"/>
              <a:t>3 = High Coaching</a:t>
            </a:r>
          </a:p>
          <a:p>
            <a:r>
              <a:rPr lang="en-GB" dirty="0"/>
              <a:t>Android Integration</a:t>
            </a:r>
          </a:p>
          <a:p>
            <a:pPr lvl="1"/>
            <a:r>
              <a:rPr lang="en-GB" dirty="0" err="1"/>
              <a:t>Após</a:t>
            </a:r>
            <a:r>
              <a:rPr lang="en-GB" dirty="0"/>
              <a:t> a </a:t>
            </a:r>
            <a:r>
              <a:rPr lang="en-GB" dirty="0" err="1"/>
              <a:t>exportação</a:t>
            </a:r>
            <a:r>
              <a:rPr lang="en-GB" dirty="0"/>
              <a:t>, o </a:t>
            </a:r>
            <a:r>
              <a:rPr lang="en-GB" dirty="0" err="1"/>
              <a:t>ficheiro</a:t>
            </a:r>
            <a:r>
              <a:rPr lang="en-GB" dirty="0"/>
              <a:t> ONNX </a:t>
            </a:r>
            <a:r>
              <a:rPr lang="en-GB" dirty="0" err="1"/>
              <a:t>deve</a:t>
            </a:r>
            <a:r>
              <a:rPr lang="en-GB" dirty="0"/>
              <a:t> ser </a:t>
            </a:r>
            <a:r>
              <a:rPr lang="en-GB" dirty="0" err="1"/>
              <a:t>copiado</a:t>
            </a:r>
            <a:r>
              <a:rPr lang="en-GB" dirty="0"/>
              <a:t> </a:t>
            </a:r>
            <a:r>
              <a:rPr lang="en-GB" dirty="0" err="1"/>
              <a:t>manualmente</a:t>
            </a:r>
            <a:r>
              <a:rPr lang="en-GB" dirty="0"/>
              <a:t> para:</a:t>
            </a:r>
          </a:p>
          <a:p>
            <a:pPr lvl="2"/>
            <a:r>
              <a:rPr lang="en-GB" dirty="0"/>
              <a:t>Dance4Life\</a:t>
            </a:r>
            <a:r>
              <a:rPr lang="en-GB" dirty="0" err="1"/>
              <a:t>AndroidSensor</a:t>
            </a:r>
            <a:r>
              <a:rPr lang="en-GB" dirty="0"/>
              <a:t>\core\</a:t>
            </a:r>
            <a:r>
              <a:rPr lang="en-GB" dirty="0" err="1"/>
              <a:t>src</a:t>
            </a:r>
            <a:r>
              <a:rPr lang="en-GB" dirty="0"/>
              <a:t>\main\java\com\dance4life\core\data\</a:t>
            </a:r>
            <a:r>
              <a:rPr lang="en-GB" dirty="0" err="1"/>
              <a:t>rl</a:t>
            </a:r>
            <a:endParaRPr lang="en-GB" dirty="0"/>
          </a:p>
          <a:p>
            <a:pPr lvl="1"/>
            <a:r>
              <a:rPr lang="en-GB" dirty="0"/>
              <a:t>A </a:t>
            </a:r>
            <a:r>
              <a:rPr lang="en-GB" dirty="0" err="1"/>
              <a:t>aplicação</a:t>
            </a:r>
            <a:r>
              <a:rPr lang="en-GB" dirty="0"/>
              <a:t> Android </a:t>
            </a:r>
            <a:r>
              <a:rPr lang="en-GB" dirty="0" err="1"/>
              <a:t>utiliza</a:t>
            </a:r>
            <a:r>
              <a:rPr lang="en-GB" dirty="0"/>
              <a:t> </a:t>
            </a:r>
            <a:r>
              <a:rPr lang="en-GB" dirty="0" err="1"/>
              <a:t>este</a:t>
            </a:r>
            <a:r>
              <a:rPr lang="en-GB" dirty="0"/>
              <a:t> </a:t>
            </a:r>
            <a:r>
              <a:rPr lang="en-GB" dirty="0" err="1"/>
              <a:t>modelo</a:t>
            </a:r>
            <a:r>
              <a:rPr lang="en-GB" dirty="0"/>
              <a:t> para </a:t>
            </a:r>
            <a:r>
              <a:rPr lang="en-GB" dirty="0" err="1"/>
              <a:t>executar</a:t>
            </a:r>
            <a:r>
              <a:rPr lang="en-GB" dirty="0"/>
              <a:t> </a:t>
            </a:r>
            <a:r>
              <a:rPr lang="en-GB" dirty="0" err="1"/>
              <a:t>inferência</a:t>
            </a:r>
            <a:r>
              <a:rPr lang="en-GB" dirty="0"/>
              <a:t> local </a:t>
            </a:r>
            <a:r>
              <a:rPr lang="en-GB" dirty="0" err="1"/>
              <a:t>através</a:t>
            </a:r>
            <a:r>
              <a:rPr lang="en-GB" dirty="0"/>
              <a:t> de ONNX Runtime, </a:t>
            </a:r>
            <a:r>
              <a:rPr lang="en-GB" dirty="0" err="1"/>
              <a:t>sem</a:t>
            </a:r>
            <a:r>
              <a:rPr lang="en-GB" dirty="0"/>
              <a:t> </a:t>
            </a:r>
            <a:r>
              <a:rPr lang="en-GB" dirty="0" err="1"/>
              <a:t>necessidade</a:t>
            </a:r>
            <a:r>
              <a:rPr lang="en-GB" dirty="0"/>
              <a:t> de Python </a:t>
            </a:r>
            <a:r>
              <a:rPr lang="en-GB" dirty="0" err="1"/>
              <a:t>ou</a:t>
            </a:r>
            <a:r>
              <a:rPr lang="en-GB" dirty="0"/>
              <a:t> Stable-Baselines3.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766980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5ED765-0922-3CFE-BEB0-6FF01AD1A5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785F9A-7B26-8E01-9A98-3F5E716C973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Treino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2EC458-9503-C23D-2AF2-CB6B3CDFAFD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64115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364D564-A21A-AE0B-1B1B-17A67EB9CB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402" y="1873331"/>
            <a:ext cx="2108233" cy="460248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217121B9-80EB-B80D-8249-4C937A596A51}"/>
              </a:ext>
            </a:extLst>
          </p:cNvPr>
          <p:cNvSpPr/>
          <p:nvPr/>
        </p:nvSpPr>
        <p:spPr>
          <a:xfrm>
            <a:off x="4431265" y="1900119"/>
            <a:ext cx="2266950" cy="355600"/>
          </a:xfrm>
          <a:prstGeom prst="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training_config.yaml</a:t>
            </a:r>
            <a:r>
              <a:rPr lang="en-GB" dirty="0">
                <a:solidFill>
                  <a:schemeClr val="tx1"/>
                </a:solidFill>
              </a:rPr>
              <a:t> 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704014E-5ADF-A0D1-B4BC-D1B966BEC35B}"/>
              </a:ext>
            </a:extLst>
          </p:cNvPr>
          <p:cNvSpPr/>
          <p:nvPr/>
        </p:nvSpPr>
        <p:spPr>
          <a:xfrm>
            <a:off x="4431265" y="2788622"/>
            <a:ext cx="2266950" cy="355600"/>
          </a:xfrm>
          <a:prstGeom prst="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Model Checkpoints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CC9872F-AF63-CCC3-CEA7-487346112D75}"/>
              </a:ext>
            </a:extLst>
          </p:cNvPr>
          <p:cNvSpPr/>
          <p:nvPr/>
        </p:nvSpPr>
        <p:spPr>
          <a:xfrm>
            <a:off x="4431265" y="5968952"/>
            <a:ext cx="2266950" cy="355600"/>
          </a:xfrm>
          <a:prstGeom prst="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 Android Inference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1AB3939-858E-2A69-55C6-4B95EA70F90B}"/>
              </a:ext>
            </a:extLst>
          </p:cNvPr>
          <p:cNvSpPr/>
          <p:nvPr/>
        </p:nvSpPr>
        <p:spPr>
          <a:xfrm>
            <a:off x="4431265" y="4553755"/>
            <a:ext cx="2266950" cy="355600"/>
          </a:xfrm>
          <a:prstGeom prst="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 *.</a:t>
            </a:r>
            <a:r>
              <a:rPr lang="en-GB" dirty="0" err="1">
                <a:solidFill>
                  <a:schemeClr val="tx1"/>
                </a:solidFill>
              </a:rPr>
              <a:t>onnx</a:t>
            </a:r>
            <a:r>
              <a:rPr lang="en-GB" dirty="0">
                <a:solidFill>
                  <a:schemeClr val="tx1"/>
                </a:solidFill>
              </a:rPr>
              <a:t>  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50BC405-9398-7AFB-1AA8-E9DF094F0E03}"/>
              </a:ext>
            </a:extLst>
          </p:cNvPr>
          <p:cNvSpPr/>
          <p:nvPr/>
        </p:nvSpPr>
        <p:spPr>
          <a:xfrm>
            <a:off x="4431265" y="5002330"/>
            <a:ext cx="2266950" cy="873637"/>
          </a:xfrm>
          <a:prstGeom prst="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  Copy ONNX to Android  =&gt; core/data/</a:t>
            </a:r>
            <a:r>
              <a:rPr lang="en-GB" dirty="0" err="1">
                <a:solidFill>
                  <a:schemeClr val="tx1"/>
                </a:solidFill>
              </a:rPr>
              <a:t>rl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0717918-05CC-0851-31C5-EB6269BED190}"/>
              </a:ext>
            </a:extLst>
          </p:cNvPr>
          <p:cNvSpPr/>
          <p:nvPr/>
        </p:nvSpPr>
        <p:spPr>
          <a:xfrm>
            <a:off x="4431265" y="4113871"/>
            <a:ext cx="2266950" cy="355600"/>
          </a:xfrm>
          <a:prstGeom prst="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 export_onnx.py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EA63246-C3A5-F134-5411-DEA02349CD0E}"/>
              </a:ext>
            </a:extLst>
          </p:cNvPr>
          <p:cNvSpPr/>
          <p:nvPr/>
        </p:nvSpPr>
        <p:spPr>
          <a:xfrm>
            <a:off x="4422556" y="3665290"/>
            <a:ext cx="2266950" cy="355600"/>
          </a:xfrm>
          <a:prstGeom prst="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 Select Best Model  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578F82E-E7E8-4A79-339A-9776861E5413}"/>
              </a:ext>
            </a:extLst>
          </p:cNvPr>
          <p:cNvSpPr/>
          <p:nvPr/>
        </p:nvSpPr>
        <p:spPr>
          <a:xfrm>
            <a:off x="4431265" y="2341795"/>
            <a:ext cx="2266950" cy="355600"/>
          </a:xfrm>
          <a:prstGeom prst="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Train PPO / DQN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0BA05AA-C636-8A29-F89F-D762341B97AF}"/>
              </a:ext>
            </a:extLst>
          </p:cNvPr>
          <p:cNvSpPr/>
          <p:nvPr/>
        </p:nvSpPr>
        <p:spPr>
          <a:xfrm>
            <a:off x="4431265" y="3226954"/>
            <a:ext cx="2266950" cy="355600"/>
          </a:xfrm>
          <a:prstGeom prst="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 Evaluate Models</a:t>
            </a:r>
          </a:p>
        </p:txBody>
      </p:sp>
      <p:sp>
        <p:nvSpPr>
          <p:cNvPr id="26" name="Title 25">
            <a:extLst>
              <a:ext uri="{FF2B5EF4-FFF2-40B4-BE49-F238E27FC236}">
                <a16:creationId xmlns:a16="http://schemas.microsoft.com/office/drawing/2014/main" id="{CD213E69-37C1-3705-DBE8-4B6059BDD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2189"/>
            <a:ext cx="10515600" cy="1325563"/>
          </a:xfrm>
        </p:spPr>
        <p:txBody>
          <a:bodyPr/>
          <a:lstStyle/>
          <a:p>
            <a:endParaRPr lang="en-GB"/>
          </a:p>
        </p:txBody>
      </p:sp>
      <p:sp>
        <p:nvSpPr>
          <p:cNvPr id="27" name="Arrow: Down 26">
            <a:extLst>
              <a:ext uri="{FF2B5EF4-FFF2-40B4-BE49-F238E27FC236}">
                <a16:creationId xmlns:a16="http://schemas.microsoft.com/office/drawing/2014/main" id="{969CDC54-10FB-780E-299F-45E736AD8B76}"/>
              </a:ext>
            </a:extLst>
          </p:cNvPr>
          <p:cNvSpPr/>
          <p:nvPr/>
        </p:nvSpPr>
        <p:spPr>
          <a:xfrm>
            <a:off x="6780000" y="1900119"/>
            <a:ext cx="566729" cy="4424433"/>
          </a:xfrm>
          <a:prstGeom prst="downArrow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1C33560-6B34-97AA-6C31-82C1EA8BC226}"/>
              </a:ext>
            </a:extLst>
          </p:cNvPr>
          <p:cNvSpPr txBox="1"/>
          <p:nvPr/>
        </p:nvSpPr>
        <p:spPr>
          <a:xfrm rot="5400000">
            <a:off x="5983356" y="3683964"/>
            <a:ext cx="21600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End-to-End Pipeline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97B743B-DD2D-ADB7-42A6-AEC3A6045A59}"/>
              </a:ext>
            </a:extLst>
          </p:cNvPr>
          <p:cNvSpPr txBox="1"/>
          <p:nvPr/>
        </p:nvSpPr>
        <p:spPr>
          <a:xfrm>
            <a:off x="8241590" y="1973411"/>
            <a:ext cx="2879834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Technology Stack:</a:t>
            </a:r>
          </a:p>
          <a:p>
            <a:pPr lvl="1"/>
            <a:r>
              <a:rPr lang="en-GB" dirty="0"/>
              <a:t>Python 3.x</a:t>
            </a:r>
          </a:p>
          <a:p>
            <a:pPr lvl="1"/>
            <a:r>
              <a:rPr lang="en-GB" dirty="0"/>
              <a:t>Stable-Baselines3</a:t>
            </a:r>
          </a:p>
          <a:p>
            <a:pPr lvl="1"/>
            <a:r>
              <a:rPr lang="en-GB" dirty="0" err="1"/>
              <a:t>PyTorch</a:t>
            </a:r>
            <a:endParaRPr lang="en-GB" dirty="0"/>
          </a:p>
          <a:p>
            <a:pPr lvl="1"/>
            <a:r>
              <a:rPr lang="en-GB" dirty="0"/>
              <a:t>Gymnasium</a:t>
            </a:r>
          </a:p>
          <a:p>
            <a:pPr lvl="1"/>
            <a:r>
              <a:rPr lang="en-GB" dirty="0"/>
              <a:t>ONNX</a:t>
            </a:r>
          </a:p>
          <a:p>
            <a:pPr lvl="1"/>
            <a:r>
              <a:rPr lang="en-GB" dirty="0"/>
              <a:t>ONNX Runtime</a:t>
            </a:r>
          </a:p>
          <a:p>
            <a:pPr lvl="1"/>
            <a:r>
              <a:rPr lang="en-GB" dirty="0"/>
              <a:t>Android</a:t>
            </a:r>
          </a:p>
          <a:p>
            <a:pPr lvl="1"/>
            <a:r>
              <a:rPr lang="en-GB" dirty="0"/>
              <a:t>Kotlin</a:t>
            </a:r>
          </a:p>
          <a:p>
            <a:pPr lvl="1"/>
            <a:r>
              <a:rPr lang="en-GB" dirty="0"/>
              <a:t>ONNX Runtime Mobile</a:t>
            </a:r>
          </a:p>
        </p:txBody>
      </p:sp>
    </p:spTree>
    <p:extLst>
      <p:ext uri="{BB962C8B-B14F-4D97-AF65-F5344CB8AC3E}">
        <p14:creationId xmlns:p14="http://schemas.microsoft.com/office/powerpoint/2010/main" val="16854300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7A59B7-32AC-8EEB-06D6-8F9A09661AF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Inferência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FED7F29-2E34-1DDB-ACA6-2C9CA63B174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33437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18D863-43DA-0F94-E894-D2B520705A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2A6D3FE-C19C-C741-894C-7A6167061B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071" y="928302"/>
            <a:ext cx="2972215" cy="4391638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90517F57-BFA5-87D4-54CF-4A1DB0C1BF74}"/>
              </a:ext>
            </a:extLst>
          </p:cNvPr>
          <p:cNvSpPr/>
          <p:nvPr/>
        </p:nvSpPr>
        <p:spPr>
          <a:xfrm>
            <a:off x="1115568" y="2519859"/>
            <a:ext cx="2183718" cy="30563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B4A8B86E-6390-554B-2002-81BEC5A8E58E}"/>
              </a:ext>
            </a:extLst>
          </p:cNvPr>
          <p:cNvSpPr/>
          <p:nvPr/>
        </p:nvSpPr>
        <p:spPr>
          <a:xfrm>
            <a:off x="2642616" y="2195432"/>
            <a:ext cx="292608" cy="301752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75C33A6-0474-3B67-3733-D4717E1F32FA}"/>
              </a:ext>
            </a:extLst>
          </p:cNvPr>
          <p:cNvSpPr txBox="1"/>
          <p:nvPr/>
        </p:nvSpPr>
        <p:spPr>
          <a:xfrm>
            <a:off x="221303" y="5702412"/>
            <a:ext cx="437459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1 – Modelo </a:t>
            </a:r>
            <a:r>
              <a:rPr lang="en-GB" dirty="0" err="1"/>
              <a:t>treinado</a:t>
            </a:r>
            <a:endParaRPr lang="en-GB" dirty="0"/>
          </a:p>
          <a:p>
            <a:r>
              <a:rPr lang="en-GB" dirty="0"/>
              <a:t>2 – Load do </a:t>
            </a:r>
            <a:r>
              <a:rPr lang="en-GB" dirty="0" err="1"/>
              <a:t>modelo</a:t>
            </a:r>
            <a:r>
              <a:rPr lang="en-GB" dirty="0"/>
              <a:t> e </a:t>
            </a:r>
            <a:r>
              <a:rPr lang="en-GB" dirty="0" err="1"/>
              <a:t>criação</a:t>
            </a:r>
            <a:r>
              <a:rPr lang="en-GB" dirty="0"/>
              <a:t> do </a:t>
            </a:r>
            <a:r>
              <a:rPr lang="en-GB" dirty="0" err="1"/>
              <a:t>ambiente</a:t>
            </a:r>
            <a:endParaRPr lang="en-GB" dirty="0"/>
          </a:p>
          <a:p>
            <a:r>
              <a:rPr lang="en-GB" dirty="0"/>
              <a:t>3 – </a:t>
            </a:r>
            <a:r>
              <a:rPr lang="en-GB" dirty="0" err="1"/>
              <a:t>Invocação</a:t>
            </a:r>
            <a:r>
              <a:rPr lang="en-GB" dirty="0"/>
              <a:t> do </a:t>
            </a:r>
            <a:r>
              <a:rPr lang="en-GB" dirty="0" err="1"/>
              <a:t>modelo</a:t>
            </a:r>
            <a:endParaRPr lang="en-GB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3641829-50A4-2613-0252-AAA199E40D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15412" y="924873"/>
            <a:ext cx="7864500" cy="4915312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03BDC714-5F70-381F-8A80-855174656B71}"/>
              </a:ext>
            </a:extLst>
          </p:cNvPr>
          <p:cNvSpPr/>
          <p:nvPr/>
        </p:nvSpPr>
        <p:spPr>
          <a:xfrm>
            <a:off x="4420742" y="2971302"/>
            <a:ext cx="7659169" cy="96252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9EEC8ACB-E1A1-D31A-ABF9-0A7A7F34A408}"/>
              </a:ext>
            </a:extLst>
          </p:cNvPr>
          <p:cNvSpPr/>
          <p:nvPr/>
        </p:nvSpPr>
        <p:spPr>
          <a:xfrm>
            <a:off x="10119741" y="3080777"/>
            <a:ext cx="292608" cy="301752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9F301EA-041E-EB91-F5AE-C3F0D3F1D3C6}"/>
              </a:ext>
            </a:extLst>
          </p:cNvPr>
          <p:cNvSpPr/>
          <p:nvPr/>
        </p:nvSpPr>
        <p:spPr>
          <a:xfrm>
            <a:off x="4420742" y="4114544"/>
            <a:ext cx="5504308" cy="172564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D3EE2D0D-1A63-360D-42CA-3721BB03BB39}"/>
              </a:ext>
            </a:extLst>
          </p:cNvPr>
          <p:cNvSpPr/>
          <p:nvPr/>
        </p:nvSpPr>
        <p:spPr>
          <a:xfrm>
            <a:off x="9215050" y="4826488"/>
            <a:ext cx="292608" cy="301752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rgbClr val="FF0000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4887686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B78EA9E-DD58-7642-B93D-2203964E02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071" y="928302"/>
            <a:ext cx="2972215" cy="439163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745E9C9-03CA-E310-16E1-409601EFD3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1967" y="832118"/>
            <a:ext cx="6309879" cy="4293665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431DE681-D52A-81B9-A07E-7AC52E16B5BB}"/>
              </a:ext>
            </a:extLst>
          </p:cNvPr>
          <p:cNvSpPr txBox="1"/>
          <p:nvPr/>
        </p:nvSpPr>
        <p:spPr>
          <a:xfrm>
            <a:off x="326078" y="5473253"/>
            <a:ext cx="46837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4 – </a:t>
            </a:r>
            <a:r>
              <a:rPr lang="en-GB" dirty="0" err="1"/>
              <a:t>Captura</a:t>
            </a:r>
            <a:r>
              <a:rPr lang="en-GB" dirty="0"/>
              <a:t> de </a:t>
            </a:r>
            <a:r>
              <a:rPr lang="en-GB" dirty="0" err="1"/>
              <a:t>evento</a:t>
            </a:r>
            <a:r>
              <a:rPr lang="en-GB" dirty="0"/>
              <a:t> e </a:t>
            </a:r>
            <a:r>
              <a:rPr lang="en-GB" dirty="0" err="1"/>
              <a:t>invocação</a:t>
            </a:r>
            <a:r>
              <a:rPr lang="en-GB" dirty="0"/>
              <a:t> do </a:t>
            </a:r>
            <a:r>
              <a:rPr lang="en-GB" dirty="0" err="1"/>
              <a:t>modelo</a:t>
            </a:r>
            <a:endParaRPr lang="en-GB" dirty="0"/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7EF50546-0C38-0B76-0D88-1A46949DC2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071" y="928302"/>
            <a:ext cx="2972215" cy="4391638"/>
          </a:xfrm>
          <a:prstGeom prst="rect">
            <a:avLst/>
          </a:prstGeom>
        </p:spPr>
      </p:pic>
      <p:sp>
        <p:nvSpPr>
          <p:cNvPr id="36" name="Rectangle 35">
            <a:extLst>
              <a:ext uri="{FF2B5EF4-FFF2-40B4-BE49-F238E27FC236}">
                <a16:creationId xmlns:a16="http://schemas.microsoft.com/office/drawing/2014/main" id="{B5C8DD1B-D919-ECC9-D6E2-1FAE5777091F}"/>
              </a:ext>
            </a:extLst>
          </p:cNvPr>
          <p:cNvSpPr/>
          <p:nvPr/>
        </p:nvSpPr>
        <p:spPr>
          <a:xfrm>
            <a:off x="925068" y="3196134"/>
            <a:ext cx="2183718" cy="30563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26CBA6FF-0AF5-E532-3FA8-183DBB462196}"/>
              </a:ext>
            </a:extLst>
          </p:cNvPr>
          <p:cNvSpPr/>
          <p:nvPr/>
        </p:nvSpPr>
        <p:spPr>
          <a:xfrm>
            <a:off x="2667937" y="2894382"/>
            <a:ext cx="292608" cy="301752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rgbClr val="FF0000"/>
                </a:solidFill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1003610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>
            <a:extLst>
              <a:ext uri="{FF2B5EF4-FFF2-40B4-BE49-F238E27FC236}">
                <a16:creationId xmlns:a16="http://schemas.microsoft.com/office/drawing/2014/main" id="{A8392B9E-E86C-CDCD-D961-E1894F997F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2629" y="3423401"/>
            <a:ext cx="3793033" cy="333786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F98D77E-948C-FBFE-E937-74AE0A828F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2629" y="1842034"/>
            <a:ext cx="5220953" cy="153786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B666373-89B4-6644-115A-5CA1696DCF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6525" y="157526"/>
            <a:ext cx="5220953" cy="163317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8834F66B-8048-D2D0-1E5E-1C771D7DAA87}"/>
              </a:ext>
            </a:extLst>
          </p:cNvPr>
          <p:cNvSpPr/>
          <p:nvPr/>
        </p:nvSpPr>
        <p:spPr>
          <a:xfrm>
            <a:off x="6486525" y="156948"/>
            <a:ext cx="5217057" cy="163317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7E9AE7A9-2A4E-6CB4-3D80-955BC1B80474}"/>
              </a:ext>
            </a:extLst>
          </p:cNvPr>
          <p:cNvSpPr/>
          <p:nvPr/>
        </p:nvSpPr>
        <p:spPr>
          <a:xfrm>
            <a:off x="10640371" y="2669032"/>
            <a:ext cx="292608" cy="301752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37A48C86-2165-9E4D-EE38-20AC1FC57447}"/>
              </a:ext>
            </a:extLst>
          </p:cNvPr>
          <p:cNvSpPr/>
          <p:nvPr/>
        </p:nvSpPr>
        <p:spPr>
          <a:xfrm>
            <a:off x="10640371" y="1342928"/>
            <a:ext cx="292608" cy="301752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6466694-F420-A187-A6B5-6C0568AE27F4}"/>
              </a:ext>
            </a:extLst>
          </p:cNvPr>
          <p:cNvSpPr/>
          <p:nvPr/>
        </p:nvSpPr>
        <p:spPr>
          <a:xfrm>
            <a:off x="6486525" y="1851559"/>
            <a:ext cx="5217056" cy="152297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A18198F-3DE1-94F3-0203-9AFC750DE12D}"/>
              </a:ext>
            </a:extLst>
          </p:cNvPr>
          <p:cNvSpPr/>
          <p:nvPr/>
        </p:nvSpPr>
        <p:spPr>
          <a:xfrm>
            <a:off x="6486525" y="3434599"/>
            <a:ext cx="3789137" cy="333786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4BB18DD5-01BB-0948-5389-DB88FC00474C}"/>
              </a:ext>
            </a:extLst>
          </p:cNvPr>
          <p:cNvSpPr/>
          <p:nvPr/>
        </p:nvSpPr>
        <p:spPr>
          <a:xfrm>
            <a:off x="9716446" y="3584416"/>
            <a:ext cx="292608" cy="301752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rgbClr val="FF0000"/>
                </a:solidFill>
              </a:rPr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02E2AF8-98FE-AAB0-6515-6243E2A7EE0D}"/>
              </a:ext>
            </a:extLst>
          </p:cNvPr>
          <p:cNvSpPr txBox="1"/>
          <p:nvPr/>
        </p:nvSpPr>
        <p:spPr>
          <a:xfrm>
            <a:off x="221303" y="5702412"/>
            <a:ext cx="437459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3 – </a:t>
            </a:r>
            <a:r>
              <a:rPr lang="en-GB" dirty="0" err="1"/>
              <a:t>Invocação</a:t>
            </a:r>
            <a:r>
              <a:rPr lang="en-GB" dirty="0"/>
              <a:t> do </a:t>
            </a:r>
            <a:r>
              <a:rPr lang="en-GB" dirty="0" err="1"/>
              <a:t>modelo</a:t>
            </a:r>
            <a:endParaRPr lang="en-GB" dirty="0"/>
          </a:p>
          <a:p>
            <a:r>
              <a:rPr lang="en-GB" dirty="0"/>
              <a:t>5 – </a:t>
            </a:r>
            <a:r>
              <a:rPr lang="en-GB" dirty="0" err="1"/>
              <a:t>Resultado</a:t>
            </a:r>
            <a:r>
              <a:rPr lang="en-GB" dirty="0"/>
              <a:t> da </a:t>
            </a:r>
            <a:r>
              <a:rPr lang="en-GB" dirty="0" err="1"/>
              <a:t>Inferência</a:t>
            </a:r>
            <a:endParaRPr lang="en-GB" dirty="0"/>
          </a:p>
          <a:p>
            <a:r>
              <a:rPr lang="en-GB" dirty="0"/>
              <a:t>6 – Dados a </a:t>
            </a:r>
            <a:r>
              <a:rPr lang="en-GB" dirty="0" err="1"/>
              <a:t>apresentar</a:t>
            </a:r>
            <a:endParaRPr lang="en-GB" dirty="0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8FFD71B5-FD54-6A04-0D0B-33D0658E59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12749" y="869763"/>
            <a:ext cx="2503272" cy="5448300"/>
          </a:xfrm>
          <a:prstGeom prst="rect">
            <a:avLst/>
          </a:pr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F758AFB8-8A8F-5DAA-9F43-E3ED2B3E7652}"/>
              </a:ext>
            </a:extLst>
          </p:cNvPr>
          <p:cNvSpPr/>
          <p:nvPr/>
        </p:nvSpPr>
        <p:spPr>
          <a:xfrm>
            <a:off x="5777110" y="2877855"/>
            <a:ext cx="292608" cy="301752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rgbClr val="FF0000"/>
                </a:solidFill>
              </a:rPr>
              <a:t>6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5EB7F7F1-0DF6-2616-7035-18D6EECDDB8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8920" y="869763"/>
            <a:ext cx="3374836" cy="3374836"/>
          </a:xfrm>
          <a:prstGeom prst="rect">
            <a:avLst/>
          </a:prstGeom>
        </p:spPr>
      </p:pic>
      <p:sp>
        <p:nvSpPr>
          <p:cNvPr id="19" name="Oval 18">
            <a:extLst>
              <a:ext uri="{FF2B5EF4-FFF2-40B4-BE49-F238E27FC236}">
                <a16:creationId xmlns:a16="http://schemas.microsoft.com/office/drawing/2014/main" id="{2831C308-14F6-912F-992D-842BA8259FB5}"/>
              </a:ext>
            </a:extLst>
          </p:cNvPr>
          <p:cNvSpPr/>
          <p:nvPr/>
        </p:nvSpPr>
        <p:spPr>
          <a:xfrm>
            <a:off x="3149637" y="3805142"/>
            <a:ext cx="292608" cy="301752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rgbClr val="FF0000"/>
                </a:solidFill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4761955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273</TotalTime>
  <Words>1324</Words>
  <Application>Microsoft Office PowerPoint</Application>
  <PresentationFormat>Widescreen</PresentationFormat>
  <Paragraphs>206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-apple-system</vt:lpstr>
      <vt:lpstr>Aptos</vt:lpstr>
      <vt:lpstr>Aptos Display</vt:lpstr>
      <vt:lpstr>Arial</vt:lpstr>
      <vt:lpstr>Times New Roman</vt:lpstr>
      <vt:lpstr>Office Theme</vt:lpstr>
      <vt:lpstr>PowerPoint Presentation</vt:lpstr>
      <vt:lpstr>Dance4Life Reinforcement Learning Coach</vt:lpstr>
      <vt:lpstr>Reinforcement Learning Concepts</vt:lpstr>
      <vt:lpstr>PowerPoint Presentation</vt:lpstr>
      <vt:lpstr>Supported Algorithms</vt:lpstr>
      <vt:lpstr>Training Configuration (training_config.yaml )</vt:lpstr>
      <vt:lpstr>Training Configuration (training_config.yaml )</vt:lpstr>
      <vt:lpstr>Training Configuration (training_config.yaml )</vt:lpstr>
      <vt:lpstr>PowerPoint Presentation</vt:lpstr>
      <vt:lpstr>ONNX Export/Android Integration</vt:lpstr>
      <vt:lpstr>Treino</vt:lpstr>
      <vt:lpstr>PowerPoint Presentation</vt:lpstr>
      <vt:lpstr>Inferência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Rui Manuel Martins Marques Rodrigues</dc:creator>
  <cp:lastModifiedBy>Rui Manuel Martins Marques Rodrigues</cp:lastModifiedBy>
  <cp:revision>3</cp:revision>
  <dcterms:created xsi:type="dcterms:W3CDTF">2026-05-30T12:21:59Z</dcterms:created>
  <dcterms:modified xsi:type="dcterms:W3CDTF">2026-05-30T16:55:43Z</dcterms:modified>
</cp:coreProperties>
</file>